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8"/>
  </p:normalViewPr>
  <p:slideViewPr>
    <p:cSldViewPr snapToGrid="0" snapToObjects="1">
      <p:cViewPr varScale="1">
        <p:scale>
          <a:sx n="105" d="100"/>
          <a:sy n="105" d="100"/>
        </p:scale>
        <p:origin x="880"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4/9/26</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8978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0621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36037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74642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15671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68221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52562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83695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4/9/26</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5292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25721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22804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4/9/26</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841342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MICROSERVICES ARCHITECTURE</a:t>
            </a:r>
          </a:p>
        </p:txBody>
      </p:sp>
      <p:sp>
        <p:nvSpPr>
          <p:cNvPr id="3" name="Content Placeholder 2"/>
          <p:cNvSpPr>
            <a:spLocks noGrp="1"/>
          </p:cNvSpPr>
          <p:nvPr>
            <p:ph idx="1"/>
          </p:nvPr>
        </p:nvSpPr>
        <p:spPr/>
        <p:txBody>
          <a:bodyPr/>
          <a:lstStyle/>
          <a:p>
            <a:r>
              <a:rPr dirty="0"/>
              <a:t>Seminar </a:t>
            </a:r>
            <a:r>
              <a:rPr dirty="0" err="1"/>
              <a:t>Chuyên</a:t>
            </a:r>
            <a:r>
              <a:rPr dirty="0"/>
              <a:t> </a:t>
            </a:r>
            <a:r>
              <a:rPr dirty="0" err="1"/>
              <a:t>đề</a:t>
            </a:r>
            <a:r>
              <a:rPr dirty="0"/>
              <a:t> – </a:t>
            </a:r>
            <a:r>
              <a:rPr dirty="0" err="1"/>
              <a:t>Bài</a:t>
            </a:r>
            <a:r>
              <a:rPr dirty="0"/>
              <a:t> 7</a:t>
            </a:r>
          </a:p>
          <a:p>
            <a:r>
              <a:rPr dirty="0" err="1"/>
              <a:t>Nhóm</a:t>
            </a:r>
            <a:r>
              <a:rPr dirty="0"/>
              <a:t>:</a:t>
            </a:r>
            <a:r>
              <a:rPr lang="vi-VN" dirty="0"/>
              <a:t> </a:t>
            </a:r>
          </a:p>
          <a:p>
            <a:pPr marL="457200" lvl="1" indent="0">
              <a:buNone/>
            </a:pPr>
            <a:r>
              <a:rPr lang="vi-VN" dirty="0"/>
              <a:t>Đặng Thanh Vũ 	   3122411250</a:t>
            </a:r>
          </a:p>
          <a:p>
            <a:pPr marL="457200" lvl="1" indent="0">
              <a:buNone/>
            </a:pPr>
            <a:r>
              <a:rPr lang="vi-VN" dirty="0"/>
              <a:t>Trần Tuấn Khanh   3122411092</a:t>
            </a:r>
          </a:p>
          <a:p>
            <a:pPr marL="457200" lvl="1" indent="0">
              <a:buNone/>
            </a:pPr>
            <a:r>
              <a:rPr lang="vi-VN" dirty="0"/>
              <a:t>Trần Thái Hiễn	   3122411052</a:t>
            </a:r>
          </a:p>
          <a:p>
            <a:pPr marL="457200" lvl="1" indent="0">
              <a:buNone/>
            </a:pPr>
            <a:r>
              <a:rPr lang="vi-VN" dirty="0"/>
              <a:t>Phan Gia Kiệt		   3122411108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err="1"/>
              <a:t>Giới</a:t>
            </a:r>
            <a:r>
              <a:rPr dirty="0"/>
              <a:t> </a:t>
            </a:r>
            <a:r>
              <a:rPr dirty="0" err="1"/>
              <a:t>thiệu</a:t>
            </a:r>
            <a:endParaRPr dirty="0"/>
          </a:p>
        </p:txBody>
      </p:sp>
      <p:sp>
        <p:nvSpPr>
          <p:cNvPr id="3" name="Content Placeholder 2"/>
          <p:cNvSpPr>
            <a:spLocks noGrp="1"/>
          </p:cNvSpPr>
          <p:nvPr>
            <p:ph idx="1"/>
          </p:nvPr>
        </p:nvSpPr>
        <p:spPr/>
        <p:txBody>
          <a:bodyPr>
            <a:normAutofit fontScale="62500" lnSpcReduction="20000"/>
          </a:bodyPr>
          <a:lstStyle/>
          <a:p>
            <a:r>
              <a:rPr lang="vi-VN" b="1" dirty="0"/>
              <a:t>Vấn đề của Monolithic:</a:t>
            </a:r>
            <a:r>
              <a:rPr lang="vi-VN" dirty="0"/>
              <a:t> Khi hệ thống phình to, kiến trúc nguyên khối bộc lộ nhiều hạn chế chí mạng: code base khổng lồ khó bảo trì, rủi ro sập toàn hệ thống (single point of failure) và không thể mở rộng (scale) cục bộ các chức năng đang bị quá tải.</a:t>
            </a:r>
          </a:p>
          <a:p>
            <a:r>
              <a:rPr lang="vi-VN" b="1" dirty="0"/>
              <a:t>Giải pháp Microservices:</a:t>
            </a:r>
            <a:r>
              <a:rPr lang="vi-VN" dirty="0"/>
              <a:t> Phân tách hệ thống thành các dịch vụ nhỏ (services), mỗi dịch vụ đảm nhiệm một nghiệp vụ riêng biệt, hoạt động và triển khai hoàn toàn độc lập.</a:t>
            </a:r>
          </a:p>
          <a:p>
            <a:r>
              <a:rPr lang="vi-VN" b="1" dirty="0"/>
              <a:t>Mục tiêu cốt lõi của dự án:</a:t>
            </a:r>
            <a:endParaRPr lang="vi-VN" dirty="0"/>
          </a:p>
          <a:p>
            <a:pPr>
              <a:buFont typeface="Arial" panose="020B0604020202020204" pitchFamily="34" charset="0"/>
              <a:buChar char="•"/>
            </a:pPr>
            <a:r>
              <a:rPr lang="vi-VN" dirty="0"/>
              <a:t>Triển khai hệ sinh thái chuẩn với Service Discovery (Eureka) và API Gateway.</a:t>
            </a:r>
          </a:p>
          <a:p>
            <a:pPr>
              <a:buFont typeface="Arial" panose="020B0604020202020204" pitchFamily="34" charset="0"/>
              <a:buChar char="•"/>
            </a:pPr>
            <a:r>
              <a:rPr lang="vi-VN" dirty="0"/>
              <a:t>Xây dựng các core services xử lý luồng đặt hàng: Product, Order, Inventory, Notification.</a:t>
            </a:r>
          </a:p>
          <a:p>
            <a:pPr>
              <a:buFont typeface="Arial" panose="020B0604020202020204" pitchFamily="34" charset="0"/>
              <a:buChar char="•"/>
            </a:pPr>
            <a:r>
              <a:rPr lang="vi-VN" dirty="0"/>
              <a:t>Áp dụng Apache Kafka giải quyết bài toán giao tiếp bất đồng bộ.</a:t>
            </a:r>
          </a:p>
          <a:p>
            <a:pPr>
              <a:buFont typeface="Arial" panose="020B0604020202020204" pitchFamily="34" charset="0"/>
              <a:buChar char="•"/>
            </a:pPr>
            <a:r>
              <a:rPr lang="vi-VN" dirty="0"/>
              <a:t>Triển khai toàn bộ cụm dịch vụ lên môi trường container với Docker.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Tổng quan kiến trúc</a:t>
            </a:r>
            <a:endParaRPr dirty="0"/>
          </a:p>
        </p:txBody>
      </p:sp>
      <p:sp>
        <p:nvSpPr>
          <p:cNvPr id="3" name="Content Placeholder 2"/>
          <p:cNvSpPr>
            <a:spLocks noGrp="1"/>
          </p:cNvSpPr>
          <p:nvPr>
            <p:ph idx="1"/>
          </p:nvPr>
        </p:nvSpPr>
        <p:spPr/>
        <p:txBody>
          <a:bodyPr>
            <a:normAutofit fontScale="85000" lnSpcReduction="10000"/>
          </a:bodyPr>
          <a:lstStyle/>
          <a:p>
            <a:r>
              <a:rPr lang="vi-VN" b="1" dirty="0">
                <a:effectLst/>
                <a:latin typeface="Google Sans Text"/>
              </a:rPr>
              <a:t>Luồng dữ liệu (Data Flow):</a:t>
            </a:r>
            <a:r>
              <a:rPr lang="vi-VN" dirty="0">
                <a:effectLst/>
                <a:latin typeface="Google Sans Text"/>
              </a:rPr>
              <a:t> Client $\rightarrow$ API Gateway $\rightarrow$ Order Service (gọi đồng bộ sang Inventory Service) $\rightarrow$ Kafka Topic $\rightarrow$ Notification Service.</a:t>
            </a:r>
          </a:p>
          <a:p>
            <a:r>
              <a:rPr lang="vi-VN" b="1" dirty="0">
                <a:effectLst/>
                <a:latin typeface="Google Sans Text"/>
              </a:rPr>
              <a:t>Kiến trúc Dữ liệu (Database-per-service):</a:t>
            </a:r>
            <a:r>
              <a:rPr lang="vi-VN" dirty="0">
                <a:effectLst/>
                <a:latin typeface="Google Sans Text"/>
              </a:rPr>
              <a:t> Đảm bảo tính đóng gói dữ liệu tuyệt đối.</a:t>
            </a:r>
          </a:p>
          <a:p>
            <a:pPr>
              <a:buFont typeface="Arial" panose="020B0604020202020204" pitchFamily="34" charset="0"/>
              <a:buChar char="•"/>
            </a:pPr>
            <a:r>
              <a:rPr lang="vi-VN" dirty="0">
                <a:effectLst/>
                <a:latin typeface="Google Sans Text"/>
              </a:rPr>
              <a:t>MongoDB: Quản lý dữ liệu phi cấu trúc của Product Service.</a:t>
            </a:r>
          </a:p>
          <a:p>
            <a:pPr>
              <a:buFont typeface="Arial" panose="020B0604020202020204" pitchFamily="34" charset="0"/>
              <a:buChar char="•"/>
            </a:pPr>
            <a:r>
              <a:rPr lang="vi-VN" dirty="0">
                <a:effectLst/>
                <a:latin typeface="Google Sans Text"/>
              </a:rPr>
              <a:t>PostgreSQL: Quản lý các giao dịch (ACID) của Order và Inventory Service.</a:t>
            </a:r>
          </a:p>
          <a:p>
            <a:pPr>
              <a:buFont typeface="Arial" panose="020B0604020202020204" pitchFamily="34" charset="0"/>
              <a:buChar char="•"/>
            </a:pPr>
            <a:r>
              <a:rPr lang="vi-VN" dirty="0">
                <a:effectLst/>
                <a:latin typeface="Google Sans Text"/>
              </a:rPr>
              <a:t>Redis: Bộ nhớ đệm (Cache) tối ưu hóa truy xuất.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Discovery Service (Eureka Server)</a:t>
            </a:r>
            <a:endParaRPr dirty="0"/>
          </a:p>
        </p:txBody>
      </p:sp>
      <p:sp>
        <p:nvSpPr>
          <p:cNvPr id="3" name="Content Placeholder 2"/>
          <p:cNvSpPr>
            <a:spLocks noGrp="1"/>
          </p:cNvSpPr>
          <p:nvPr>
            <p:ph idx="1"/>
          </p:nvPr>
        </p:nvSpPr>
        <p:spPr/>
        <p:txBody>
          <a:bodyPr>
            <a:normAutofit lnSpcReduction="10000"/>
          </a:bodyPr>
          <a:lstStyle/>
          <a:p>
            <a:r>
              <a:rPr lang="vi-VN" b="1" dirty="0"/>
              <a:t>Vai trò trung tâm:</a:t>
            </a:r>
            <a:r>
              <a:rPr lang="vi-VN" dirty="0"/>
              <a:t> Đóng vai trò là "Danh bạ dịch vụ" (Service Registry), nơi lưu trữ và cập nhật liên tục trạng thái của toàn bộ hệ thống.</a:t>
            </a:r>
          </a:p>
          <a:p>
            <a:r>
              <a:rPr lang="vi-VN" b="1" dirty="0"/>
              <a:t>Cơ chế hoạt động (Dynamic Registry):</a:t>
            </a:r>
            <a:r>
              <a:rPr lang="vi-VN" dirty="0"/>
              <a:t> Loại bỏ hoàn toàn việc "hard-code" địa chỉ IP. Các service vệ tinh tự động kết nối và đăng ký thông tin (IP, Port, Status) khi khởi động.</a:t>
            </a:r>
          </a:p>
          <a:p>
            <a:r>
              <a:rPr lang="vi-VN" b="1" dirty="0"/>
              <a:t>Cấu hình kỹ thuật:</a:t>
            </a:r>
            <a:r>
              <a:rPr lang="vi-VN" dirty="0"/>
              <a:t> Chạy tại cổng :8761, được kích hoạt dễ dàng qua annotation @EnableEurekaServer.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Discovery Service (Eureka Server)</a:t>
            </a:r>
            <a:endParaRPr dirty="0"/>
          </a:p>
        </p:txBody>
      </p:sp>
      <p:pic>
        <p:nvPicPr>
          <p:cNvPr id="4" name="Content Placeholder 3">
            <a:extLst>
              <a:ext uri="{FF2B5EF4-FFF2-40B4-BE49-F238E27FC236}">
                <a16:creationId xmlns:a16="http://schemas.microsoft.com/office/drawing/2014/main" id="{EFDD2A2F-1665-0911-22C2-29B756636BCF}"/>
              </a:ext>
            </a:extLst>
          </p:cNvPr>
          <p:cNvPicPr>
            <a:picLocks noGrp="1" noChangeAspect="1"/>
          </p:cNvPicPr>
          <p:nvPr>
            <p:ph idx="1"/>
          </p:nvPr>
        </p:nvPicPr>
        <p:blipFill>
          <a:blip r:embed="rId2"/>
          <a:stretch>
            <a:fillRect/>
          </a:stretch>
        </p:blipFill>
        <p:spPr>
          <a:xfrm>
            <a:off x="1663292" y="2016125"/>
            <a:ext cx="6131742" cy="34496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Service </a:t>
            </a:r>
            <a:endParaRPr dirty="0"/>
          </a:p>
        </p:txBody>
      </p:sp>
      <p:sp>
        <p:nvSpPr>
          <p:cNvPr id="3" name="Content Placeholder 2"/>
          <p:cNvSpPr>
            <a:spLocks noGrp="1"/>
          </p:cNvSpPr>
          <p:nvPr>
            <p:ph idx="1"/>
          </p:nvPr>
        </p:nvSpPr>
        <p:spPr/>
        <p:txBody>
          <a:bodyPr>
            <a:normAutofit fontScale="85000" lnSpcReduction="10000"/>
          </a:bodyPr>
          <a:lstStyle/>
          <a:p>
            <a:r>
              <a:rPr lang="en-US" b="1" dirty="0" err="1"/>
              <a:t>Vai</a:t>
            </a:r>
            <a:r>
              <a:rPr lang="en-US" b="1" dirty="0"/>
              <a:t> </a:t>
            </a:r>
            <a:r>
              <a:rPr lang="en-US" b="1" dirty="0" err="1"/>
              <a:t>trò</a:t>
            </a:r>
            <a:r>
              <a:rPr lang="en-US" b="1" dirty="0"/>
              <a:t> </a:t>
            </a:r>
            <a:r>
              <a:rPr lang="en-US" b="1" dirty="0" err="1"/>
              <a:t>nghiệp</a:t>
            </a:r>
            <a:r>
              <a:rPr lang="en-US" b="1" dirty="0"/>
              <a:t> </a:t>
            </a:r>
            <a:r>
              <a:rPr lang="en-US" b="1" dirty="0" err="1"/>
              <a:t>vụ</a:t>
            </a:r>
            <a:r>
              <a:rPr lang="en-US" b="1" dirty="0"/>
              <a:t>:</a:t>
            </a:r>
            <a:r>
              <a:rPr lang="en-US" dirty="0"/>
              <a:t> </a:t>
            </a:r>
            <a:r>
              <a:rPr lang="en-US" dirty="0" err="1"/>
              <a:t>Là</a:t>
            </a:r>
            <a:r>
              <a:rPr lang="en-US" dirty="0"/>
              <a:t> </a:t>
            </a:r>
            <a:r>
              <a:rPr lang="en-US" dirty="0" err="1"/>
              <a:t>một</a:t>
            </a:r>
            <a:r>
              <a:rPr lang="en-US" dirty="0"/>
              <a:t> Core Service </a:t>
            </a:r>
            <a:r>
              <a:rPr lang="en-US" dirty="0" err="1"/>
              <a:t>nền</a:t>
            </a:r>
            <a:r>
              <a:rPr lang="en-US" dirty="0"/>
              <a:t> </a:t>
            </a:r>
            <a:r>
              <a:rPr lang="en-US" dirty="0" err="1"/>
              <a:t>tảng</a:t>
            </a:r>
            <a:r>
              <a:rPr lang="en-US" dirty="0"/>
              <a:t>, </a:t>
            </a:r>
            <a:r>
              <a:rPr lang="en-US" dirty="0" err="1"/>
              <a:t>quản</a:t>
            </a:r>
            <a:r>
              <a:rPr lang="en-US" dirty="0"/>
              <a:t> </a:t>
            </a:r>
            <a:r>
              <a:rPr lang="en-US" dirty="0" err="1"/>
              <a:t>lý</a:t>
            </a:r>
            <a:r>
              <a:rPr lang="en-US" dirty="0"/>
              <a:t> </a:t>
            </a:r>
            <a:r>
              <a:rPr lang="en-US" dirty="0" err="1"/>
              <a:t>toàn</a:t>
            </a:r>
            <a:r>
              <a:rPr lang="en-US" dirty="0"/>
              <a:t> </a:t>
            </a:r>
            <a:r>
              <a:rPr lang="en-US" dirty="0" err="1"/>
              <a:t>bộ</a:t>
            </a:r>
            <a:r>
              <a:rPr lang="en-US" dirty="0"/>
              <a:t> </a:t>
            </a:r>
            <a:r>
              <a:rPr lang="en-US" dirty="0" err="1"/>
              <a:t>vòng</a:t>
            </a:r>
            <a:r>
              <a:rPr lang="en-US" dirty="0"/>
              <a:t> </a:t>
            </a:r>
            <a:r>
              <a:rPr lang="en-US" dirty="0" err="1"/>
              <a:t>đời</a:t>
            </a:r>
            <a:r>
              <a:rPr lang="en-US" dirty="0"/>
              <a:t> </a:t>
            </a:r>
            <a:r>
              <a:rPr lang="en-US" dirty="0" err="1"/>
              <a:t>và</a:t>
            </a:r>
            <a:r>
              <a:rPr lang="en-US" dirty="0"/>
              <a:t> </a:t>
            </a:r>
            <a:r>
              <a:rPr lang="en-US" dirty="0" err="1"/>
              <a:t>thông</a:t>
            </a:r>
            <a:r>
              <a:rPr lang="en-US" dirty="0"/>
              <a:t> tin </a:t>
            </a:r>
            <a:r>
              <a:rPr lang="en-US" dirty="0" err="1"/>
              <a:t>danh</a:t>
            </a:r>
            <a:r>
              <a:rPr lang="en-US" dirty="0"/>
              <a:t> </a:t>
            </a:r>
            <a:r>
              <a:rPr lang="en-US" dirty="0" err="1"/>
              <a:t>mục</a:t>
            </a:r>
            <a:r>
              <a:rPr lang="en-US" dirty="0"/>
              <a:t> </a:t>
            </a:r>
            <a:r>
              <a:rPr lang="en-US" dirty="0" err="1"/>
              <a:t>sản</a:t>
            </a:r>
            <a:r>
              <a:rPr lang="en-US" dirty="0"/>
              <a:t> </a:t>
            </a:r>
            <a:r>
              <a:rPr lang="en-US" dirty="0" err="1"/>
              <a:t>phẩm</a:t>
            </a:r>
            <a:r>
              <a:rPr lang="en-US" dirty="0"/>
              <a:t> </a:t>
            </a:r>
            <a:r>
              <a:rPr lang="en-US" dirty="0" err="1"/>
              <a:t>của</a:t>
            </a:r>
            <a:r>
              <a:rPr lang="en-US" dirty="0"/>
              <a:t> </a:t>
            </a:r>
            <a:r>
              <a:rPr lang="en-US" dirty="0" err="1"/>
              <a:t>hệ</a:t>
            </a:r>
            <a:r>
              <a:rPr lang="en-US" dirty="0"/>
              <a:t> </a:t>
            </a:r>
            <a:r>
              <a:rPr lang="en-US" dirty="0" err="1"/>
              <a:t>thống</a:t>
            </a:r>
            <a:r>
              <a:rPr lang="en-US" dirty="0"/>
              <a:t> e-commerce.</a:t>
            </a:r>
          </a:p>
          <a:p>
            <a:r>
              <a:rPr lang="en-US" b="1" dirty="0" err="1"/>
              <a:t>Đặc</a:t>
            </a:r>
            <a:r>
              <a:rPr lang="en-US" b="1" dirty="0"/>
              <a:t> </a:t>
            </a:r>
            <a:r>
              <a:rPr lang="en-US" b="1" dirty="0" err="1"/>
              <a:t>điểm</a:t>
            </a:r>
            <a:r>
              <a:rPr lang="en-US" b="1" dirty="0"/>
              <a:t> </a:t>
            </a:r>
            <a:r>
              <a:rPr lang="en-US" b="1" dirty="0" err="1"/>
              <a:t>nổi</a:t>
            </a:r>
            <a:r>
              <a:rPr lang="en-US" b="1" dirty="0"/>
              <a:t> </a:t>
            </a:r>
            <a:r>
              <a:rPr lang="en-US" b="1" dirty="0" err="1"/>
              <a:t>bật</a:t>
            </a:r>
            <a:r>
              <a:rPr lang="en-US" b="1" dirty="0"/>
              <a:t>:</a:t>
            </a:r>
            <a:endParaRPr lang="en-US" dirty="0"/>
          </a:p>
          <a:p>
            <a:pPr>
              <a:buFont typeface="Arial" panose="020B0604020202020204" pitchFamily="34" charset="0"/>
              <a:buChar char="•"/>
            </a:pPr>
            <a:r>
              <a:rPr lang="en-US" dirty="0" err="1"/>
              <a:t>Hoạt</a:t>
            </a:r>
            <a:r>
              <a:rPr lang="en-US" dirty="0"/>
              <a:t> </a:t>
            </a:r>
            <a:r>
              <a:rPr lang="en-US" dirty="0" err="1"/>
              <a:t>động</a:t>
            </a:r>
            <a:r>
              <a:rPr lang="en-US" dirty="0"/>
              <a:t> </a:t>
            </a:r>
            <a:r>
              <a:rPr lang="en-US" dirty="0" err="1"/>
              <a:t>hoàn</a:t>
            </a:r>
            <a:r>
              <a:rPr lang="en-US" dirty="0"/>
              <a:t> </a:t>
            </a:r>
            <a:r>
              <a:rPr lang="en-US" dirty="0" err="1"/>
              <a:t>toàn</a:t>
            </a:r>
            <a:r>
              <a:rPr lang="en-US" dirty="0"/>
              <a:t> </a:t>
            </a:r>
            <a:r>
              <a:rPr lang="en-US" dirty="0" err="1"/>
              <a:t>độc</a:t>
            </a:r>
            <a:r>
              <a:rPr lang="en-US" dirty="0"/>
              <a:t> </a:t>
            </a:r>
            <a:r>
              <a:rPr lang="en-US" dirty="0" err="1"/>
              <a:t>lập</a:t>
            </a:r>
            <a:r>
              <a:rPr lang="en-US" dirty="0"/>
              <a:t>, </a:t>
            </a:r>
            <a:r>
              <a:rPr lang="en-US" dirty="0" err="1"/>
              <a:t>không</a:t>
            </a:r>
            <a:r>
              <a:rPr lang="en-US" dirty="0"/>
              <a:t> </a:t>
            </a:r>
            <a:r>
              <a:rPr lang="en-US" dirty="0" err="1"/>
              <a:t>phụ</a:t>
            </a:r>
            <a:r>
              <a:rPr lang="en-US" dirty="0"/>
              <a:t> </a:t>
            </a:r>
            <a:r>
              <a:rPr lang="en-US" dirty="0" err="1"/>
              <a:t>thuộc</a:t>
            </a:r>
            <a:r>
              <a:rPr lang="en-US" dirty="0"/>
              <a:t> </a:t>
            </a:r>
            <a:r>
              <a:rPr lang="en-US" dirty="0" err="1"/>
              <a:t>vào</a:t>
            </a:r>
            <a:r>
              <a:rPr lang="en-US" dirty="0"/>
              <a:t> </a:t>
            </a:r>
            <a:r>
              <a:rPr lang="en-US" dirty="0" err="1"/>
              <a:t>bất</a:t>
            </a:r>
            <a:r>
              <a:rPr lang="en-US" dirty="0"/>
              <a:t> </a:t>
            </a:r>
            <a:r>
              <a:rPr lang="en-US" dirty="0" err="1"/>
              <a:t>kỳ</a:t>
            </a:r>
            <a:r>
              <a:rPr lang="en-US" dirty="0"/>
              <a:t> service </a:t>
            </a:r>
            <a:r>
              <a:rPr lang="en-US" dirty="0" err="1"/>
              <a:t>nào</a:t>
            </a:r>
            <a:r>
              <a:rPr lang="en-US" dirty="0"/>
              <a:t> </a:t>
            </a:r>
            <a:r>
              <a:rPr lang="en-US" dirty="0" err="1"/>
              <a:t>khác</a:t>
            </a:r>
            <a:r>
              <a:rPr lang="en-US" dirty="0"/>
              <a:t> </a:t>
            </a:r>
            <a:r>
              <a:rPr lang="en-US" dirty="0" err="1"/>
              <a:t>để</a:t>
            </a:r>
            <a:r>
              <a:rPr lang="en-US" dirty="0"/>
              <a:t> </a:t>
            </a:r>
            <a:r>
              <a:rPr lang="en-US" dirty="0" err="1"/>
              <a:t>tồn</a:t>
            </a:r>
            <a:r>
              <a:rPr lang="en-US" dirty="0"/>
              <a:t> </a:t>
            </a:r>
            <a:r>
              <a:rPr lang="en-US" dirty="0" err="1"/>
              <a:t>tại</a:t>
            </a:r>
            <a:r>
              <a:rPr lang="en-US" dirty="0"/>
              <a:t>.</a:t>
            </a:r>
          </a:p>
          <a:p>
            <a:pPr>
              <a:buFont typeface="Arial" panose="020B0604020202020204" pitchFamily="34" charset="0"/>
              <a:buChar char="•"/>
            </a:pPr>
            <a:r>
              <a:rPr lang="en-US" dirty="0" err="1"/>
              <a:t>Kết</a:t>
            </a:r>
            <a:r>
              <a:rPr lang="en-US" dirty="0"/>
              <a:t> </a:t>
            </a:r>
            <a:r>
              <a:rPr lang="en-US" dirty="0" err="1"/>
              <a:t>nối</a:t>
            </a:r>
            <a:r>
              <a:rPr lang="en-US" dirty="0"/>
              <a:t> </a:t>
            </a:r>
            <a:r>
              <a:rPr lang="en-US" dirty="0" err="1"/>
              <a:t>trực</a:t>
            </a:r>
            <a:r>
              <a:rPr lang="en-US" dirty="0"/>
              <a:t> </a:t>
            </a:r>
            <a:r>
              <a:rPr lang="en-US" dirty="0" err="1"/>
              <a:t>tiếp</a:t>
            </a:r>
            <a:r>
              <a:rPr lang="en-US" dirty="0"/>
              <a:t> </a:t>
            </a:r>
            <a:r>
              <a:rPr lang="en-US" dirty="0" err="1"/>
              <a:t>với</a:t>
            </a:r>
            <a:r>
              <a:rPr lang="en-US" dirty="0"/>
              <a:t> Database </a:t>
            </a:r>
            <a:r>
              <a:rPr lang="en-US" dirty="0" err="1"/>
              <a:t>riêng</a:t>
            </a:r>
            <a:r>
              <a:rPr lang="en-US" dirty="0"/>
              <a:t> (MongoDB) qua Spring Data.</a:t>
            </a:r>
          </a:p>
          <a:p>
            <a:pPr>
              <a:buFont typeface="Arial" panose="020B0604020202020204" pitchFamily="34" charset="0"/>
              <a:buChar char="•"/>
            </a:pPr>
            <a:r>
              <a:rPr lang="en-US" dirty="0" err="1"/>
              <a:t>Cung</a:t>
            </a:r>
            <a:r>
              <a:rPr lang="en-US" dirty="0"/>
              <a:t> </a:t>
            </a:r>
            <a:r>
              <a:rPr lang="en-US" dirty="0" err="1"/>
              <a:t>cấp</a:t>
            </a:r>
            <a:r>
              <a:rPr lang="en-US" dirty="0"/>
              <a:t> </a:t>
            </a:r>
            <a:r>
              <a:rPr lang="en-US" dirty="0" err="1"/>
              <a:t>các</a:t>
            </a:r>
            <a:r>
              <a:rPr lang="en-US" dirty="0"/>
              <a:t> RESTful API </a:t>
            </a:r>
            <a:r>
              <a:rPr lang="en-US" dirty="0" err="1"/>
              <a:t>chuẩn</a:t>
            </a:r>
            <a:r>
              <a:rPr lang="en-US" dirty="0"/>
              <a:t> </a:t>
            </a:r>
            <a:r>
              <a:rPr lang="en-US" dirty="0" err="1"/>
              <a:t>mực</a:t>
            </a:r>
            <a:r>
              <a:rPr lang="en-US" dirty="0"/>
              <a:t> (GET </a:t>
            </a:r>
            <a:r>
              <a:rPr lang="en-US" dirty="0" err="1"/>
              <a:t>để</a:t>
            </a:r>
            <a:r>
              <a:rPr lang="en-US" dirty="0"/>
              <a:t> </a:t>
            </a:r>
            <a:r>
              <a:rPr lang="en-US" dirty="0" err="1"/>
              <a:t>lấy</a:t>
            </a:r>
            <a:r>
              <a:rPr lang="en-US" dirty="0"/>
              <a:t> </a:t>
            </a:r>
            <a:r>
              <a:rPr lang="en-US" dirty="0" err="1"/>
              <a:t>danh</a:t>
            </a:r>
            <a:r>
              <a:rPr lang="en-US" dirty="0"/>
              <a:t> </a:t>
            </a:r>
            <a:r>
              <a:rPr lang="en-US" dirty="0" err="1"/>
              <a:t>sách</a:t>
            </a:r>
            <a:r>
              <a:rPr lang="en-US" dirty="0"/>
              <a:t>, POST </a:t>
            </a:r>
            <a:r>
              <a:rPr lang="en-US" dirty="0" err="1"/>
              <a:t>để</a:t>
            </a:r>
            <a:r>
              <a:rPr lang="en-US" dirty="0"/>
              <a:t> </a:t>
            </a:r>
            <a:r>
              <a:rPr lang="en-US" dirty="0" err="1"/>
              <a:t>thêm</a:t>
            </a:r>
            <a:r>
              <a:rPr lang="en-US" dirty="0"/>
              <a:t> </a:t>
            </a:r>
            <a:r>
              <a:rPr lang="en-US" dirty="0" err="1"/>
              <a:t>mới</a:t>
            </a:r>
            <a:r>
              <a:rPr lang="en-US"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Product Service</a:t>
            </a:r>
            <a:endParaRPr dirty="0"/>
          </a:p>
        </p:txBody>
      </p:sp>
      <p:pic>
        <p:nvPicPr>
          <p:cNvPr id="5" name="Content Placeholder 4">
            <a:extLst>
              <a:ext uri="{FF2B5EF4-FFF2-40B4-BE49-F238E27FC236}">
                <a16:creationId xmlns:a16="http://schemas.microsoft.com/office/drawing/2014/main" id="{374B2333-3A24-B613-41A3-BFC5DFF4953C}"/>
              </a:ext>
            </a:extLst>
          </p:cNvPr>
          <p:cNvPicPr>
            <a:picLocks noGrp="1" noChangeAspect="1"/>
          </p:cNvPicPr>
          <p:nvPr>
            <p:ph idx="1"/>
          </p:nvPr>
        </p:nvPicPr>
        <p:blipFill>
          <a:blip r:embed="rId2"/>
          <a:stretch>
            <a:fillRect/>
          </a:stretch>
        </p:blipFill>
        <p:spPr>
          <a:xfrm>
            <a:off x="1912210" y="2016125"/>
            <a:ext cx="5633906" cy="344963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Service</a:t>
            </a:r>
            <a:endParaRPr dirty="0"/>
          </a:p>
        </p:txBody>
      </p:sp>
      <p:sp>
        <p:nvSpPr>
          <p:cNvPr id="3" name="Content Placeholder 2"/>
          <p:cNvSpPr>
            <a:spLocks noGrp="1"/>
          </p:cNvSpPr>
          <p:nvPr>
            <p:ph idx="1"/>
          </p:nvPr>
        </p:nvSpPr>
        <p:spPr/>
        <p:txBody>
          <a:bodyPr>
            <a:normAutofit fontScale="92500" lnSpcReduction="20000"/>
          </a:bodyPr>
          <a:lstStyle/>
          <a:p>
            <a:pPr>
              <a:buFont typeface="Arial" panose="020B0604020202020204" pitchFamily="34" charset="0"/>
              <a:buChar char="•"/>
            </a:pPr>
            <a:r>
              <a:rPr lang="vi-VN" b="1" dirty="0"/>
              <a:t>Vai trò điều phối (Orchestrator):</a:t>
            </a:r>
            <a:r>
              <a:rPr lang="vi-VN" dirty="0"/>
              <a:t> Phân hệ có logic phức tạp nhất, chịu trách nhiệm nhận yêu cầu và điều phối luồng đặt hàng.</a:t>
            </a:r>
          </a:p>
          <a:p>
            <a:pPr>
              <a:buFont typeface="Arial" panose="020B0604020202020204" pitchFamily="34" charset="0"/>
              <a:buChar char="•"/>
            </a:pPr>
            <a:r>
              <a:rPr lang="vi-VN" b="1" dirty="0"/>
              <a:t>Giao tiếp đồng bộ (Synchronous):</a:t>
            </a:r>
            <a:r>
              <a:rPr lang="vi-VN" dirty="0"/>
              <a:t> Gọi HTTP Request trực tiếp thông qua RestTemplate sang Inventory Service để kiểm tra số lượng tồn kho theo thời gian thực.</a:t>
            </a:r>
          </a:p>
          <a:p>
            <a:pPr>
              <a:buFont typeface="Arial" panose="020B0604020202020204" pitchFamily="34" charset="0"/>
              <a:buChar char="•"/>
            </a:pPr>
            <a:r>
              <a:rPr lang="vi-VN" b="1" dirty="0"/>
              <a:t>Cơ chế chịu lỗi (Fault Tolerance):</a:t>
            </a:r>
            <a:r>
              <a:rPr lang="vi-VN" dirty="0"/>
              <a:t> Tích hợp thư viện Resilience4j (Circuit Breaker, Retry, Time Limiter) để bảo vệ hệ thống, ngăn chặn "hiệu ứng domino" khi một service liên kết bị sập.</a:t>
            </a:r>
          </a:p>
          <a:p>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Order Service</a:t>
            </a:r>
            <a:endParaRPr dirty="0"/>
          </a:p>
        </p:txBody>
      </p:sp>
      <p:pic>
        <p:nvPicPr>
          <p:cNvPr id="4" name="Content Placeholder 3">
            <a:extLst>
              <a:ext uri="{FF2B5EF4-FFF2-40B4-BE49-F238E27FC236}">
                <a16:creationId xmlns:a16="http://schemas.microsoft.com/office/drawing/2014/main" id="{6F950DBF-5A76-6EDF-B879-132B648E5F7B}"/>
              </a:ext>
            </a:extLst>
          </p:cNvPr>
          <p:cNvPicPr>
            <a:picLocks noGrp="1" noChangeAspect="1"/>
          </p:cNvPicPr>
          <p:nvPr>
            <p:ph idx="1"/>
          </p:nvPr>
        </p:nvPicPr>
        <p:blipFill>
          <a:blip r:embed="rId2"/>
          <a:stretch>
            <a:fillRect/>
          </a:stretch>
        </p:blipFill>
        <p:spPr>
          <a:xfrm>
            <a:off x="1661160" y="2016125"/>
            <a:ext cx="6136006" cy="344963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Notification Service &amp; Apache Kafka</a:t>
            </a:r>
            <a:endParaRPr dirty="0"/>
          </a:p>
        </p:txBody>
      </p:sp>
      <p:sp>
        <p:nvSpPr>
          <p:cNvPr id="3" name="Content Placeholder 2"/>
          <p:cNvSpPr>
            <a:spLocks noGrp="1"/>
          </p:cNvSpPr>
          <p:nvPr>
            <p:ph idx="1"/>
          </p:nvPr>
        </p:nvSpPr>
        <p:spPr/>
        <p:txBody>
          <a:bodyPr>
            <a:normAutofit fontScale="77500" lnSpcReduction="20000"/>
          </a:bodyPr>
          <a:lstStyle/>
          <a:p>
            <a:r>
              <a:rPr lang="vi-VN" b="1" dirty="0"/>
              <a:t>Kiến trúc Hướng sự kiện (Event-Driven):</a:t>
            </a:r>
            <a:r>
              <a:rPr lang="vi-VN" dirty="0"/>
              <a:t> Chuyển đổi từ mô hình đợi phản hồi (Sync) sang mô hình giao tiếp bất đồng bộ (Async) giúp giải phóng tài nguyên.</a:t>
            </a:r>
          </a:p>
          <a:p>
            <a:r>
              <a:rPr lang="vi-VN" b="1" dirty="0"/>
              <a:t>Luồng hoạt động qua Message Broker:</a:t>
            </a:r>
            <a:endParaRPr lang="vi-VN" dirty="0"/>
          </a:p>
          <a:p>
            <a:pPr>
              <a:buFont typeface="Arial" panose="020B0604020202020204" pitchFamily="34" charset="0"/>
              <a:buChar char="•"/>
            </a:pPr>
            <a:r>
              <a:rPr lang="vi-VN" b="1" dirty="0"/>
              <a:t>Producer (Order Service):</a:t>
            </a:r>
            <a:r>
              <a:rPr lang="vi-VN" dirty="0"/>
              <a:t> Đóng gói sự kiện "Tạo đơn thành công" và đẩy vào notificationTopic.</a:t>
            </a:r>
          </a:p>
          <a:p>
            <a:pPr>
              <a:buFont typeface="Arial" panose="020B0604020202020204" pitchFamily="34" charset="0"/>
              <a:buChar char="•"/>
            </a:pPr>
            <a:r>
              <a:rPr lang="vi-VN" b="1" dirty="0"/>
              <a:t>Consumer (Notification Service):</a:t>
            </a:r>
            <a:r>
              <a:rPr lang="vi-VN" dirty="0"/>
              <a:t> Luôn trong trạng thái lắng nghe, lập tức chộp lấy message để xử lý ngầm (ví dụ: giả lập gửi email, ghi log).</a:t>
            </a:r>
          </a:p>
          <a:p>
            <a:r>
              <a:rPr lang="vi-VN" b="1" dirty="0"/>
              <a:t>Truy vết phân tán:</a:t>
            </a:r>
            <a:r>
              <a:rPr lang="vi-VN" dirty="0"/>
              <a:t> Tích hợp Micrometer Tracing (Zipkin) để dễ dàng debug và theo dõi hành trình của request qua nhiều services.</a:t>
            </a:r>
          </a:p>
          <a:p>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Notification Service &amp; Apache Kafka</a:t>
            </a:r>
            <a:endParaRPr dirty="0"/>
          </a:p>
        </p:txBody>
      </p:sp>
      <p:pic>
        <p:nvPicPr>
          <p:cNvPr id="4" name="Content Placeholder 3">
            <a:extLst>
              <a:ext uri="{FF2B5EF4-FFF2-40B4-BE49-F238E27FC236}">
                <a16:creationId xmlns:a16="http://schemas.microsoft.com/office/drawing/2014/main" id="{391FD2B1-1304-6F88-F496-FD207D881386}"/>
              </a:ext>
            </a:extLst>
          </p:cNvPr>
          <p:cNvPicPr>
            <a:picLocks noGrp="1" noChangeAspect="1"/>
          </p:cNvPicPr>
          <p:nvPr>
            <p:ph idx="1"/>
          </p:nvPr>
        </p:nvPicPr>
        <p:blipFill>
          <a:blip r:embed="rId2"/>
          <a:stretch>
            <a:fillRect/>
          </a:stretch>
        </p:blipFill>
        <p:spPr>
          <a:xfrm>
            <a:off x="1994464" y="2016125"/>
            <a:ext cx="5469398" cy="34496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API Gateway</a:t>
            </a:r>
            <a:endParaRPr dirty="0"/>
          </a:p>
        </p:txBody>
      </p:sp>
      <p:sp>
        <p:nvSpPr>
          <p:cNvPr id="3" name="Content Placeholder 2"/>
          <p:cNvSpPr>
            <a:spLocks noGrp="1"/>
          </p:cNvSpPr>
          <p:nvPr>
            <p:ph idx="1"/>
          </p:nvPr>
        </p:nvSpPr>
        <p:spPr/>
        <p:txBody>
          <a:bodyPr>
            <a:normAutofit fontScale="92500" lnSpcReduction="20000"/>
          </a:bodyPr>
          <a:lstStyle/>
          <a:p>
            <a:r>
              <a:rPr lang="vi-VN" b="1" dirty="0"/>
              <a:t>Vai trò "Người gác cổng":</a:t>
            </a:r>
            <a:r>
              <a:rPr lang="vi-VN" dirty="0"/>
              <a:t> Là điểm truy cập duy nhất (Single Point of Entry) kết nối Client từ bên ngoài vào mạng lưới microservices nội bộ.</a:t>
            </a:r>
          </a:p>
          <a:p>
            <a:r>
              <a:rPr lang="vi-VN" b="1" dirty="0"/>
              <a:t>Định tuyến động (Dynamic Routing):</a:t>
            </a:r>
            <a:r>
              <a:rPr lang="vi-VN" dirty="0"/>
              <a:t> Kết hợp chặt chẽ với Eureka để tự động phân giải địa chỉ, forward luồng request (ví dụ /api/product/**) về chính xác service đang đảm nhiệm.</a:t>
            </a:r>
          </a:p>
          <a:p>
            <a:r>
              <a:rPr lang="vi-VN" b="1" dirty="0"/>
              <a:t>Lá chắn bảo mật &amp; Giám sát:</a:t>
            </a:r>
            <a:r>
              <a:rPr lang="vi-VN" dirty="0"/>
              <a:t> Vị trí "yết hầu" lý tưởng để triển khai các rào chắn tập trung như Xác thực (JWT Auth), Giới hạn lưu lượng (Rate Limiting).</a:t>
            </a:r>
          </a:p>
          <a:p>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Triển</a:t>
            </a:r>
            <a:r>
              <a:rPr lang="en-US" dirty="0"/>
              <a:t> </a:t>
            </a:r>
            <a:r>
              <a:rPr lang="en-US" dirty="0" err="1"/>
              <a:t>khai</a:t>
            </a:r>
            <a:r>
              <a:rPr lang="en-US" dirty="0"/>
              <a:t> &amp; </a:t>
            </a:r>
            <a:r>
              <a:rPr lang="en-US" dirty="0" err="1"/>
              <a:t>Giám</a:t>
            </a:r>
            <a:r>
              <a:rPr lang="en-US" dirty="0"/>
              <a:t> </a:t>
            </a:r>
            <a:r>
              <a:rPr lang="en-US" dirty="0" err="1"/>
              <a:t>sát</a:t>
            </a:r>
            <a:r>
              <a:rPr lang="en-US" dirty="0"/>
              <a:t> (Deployment &amp; Monitoring)</a:t>
            </a:r>
            <a:endParaRPr dirty="0"/>
          </a:p>
        </p:txBody>
      </p:sp>
      <p:sp>
        <p:nvSpPr>
          <p:cNvPr id="3" name="Content Placeholder 2"/>
          <p:cNvSpPr>
            <a:spLocks noGrp="1"/>
          </p:cNvSpPr>
          <p:nvPr>
            <p:ph idx="1"/>
          </p:nvPr>
        </p:nvSpPr>
        <p:spPr/>
        <p:txBody>
          <a:bodyPr>
            <a:normAutofit fontScale="92500" lnSpcReduction="10000"/>
          </a:bodyPr>
          <a:lstStyle/>
          <a:p>
            <a:r>
              <a:rPr lang="vi-VN" b="1" dirty="0"/>
              <a:t>Đóng gói chuẩn hóa:</a:t>
            </a:r>
            <a:r>
              <a:rPr lang="vi-VN" dirty="0"/>
              <a:t> Mỗi microservice được build thành một image độc lập thông qua Dockerfile.</a:t>
            </a:r>
          </a:p>
          <a:p>
            <a:r>
              <a:rPr lang="vi-VN" b="1" dirty="0"/>
              <a:t>Khởi chạy đồng bộ:</a:t>
            </a:r>
            <a:r>
              <a:rPr lang="vi-VN" dirty="0"/>
              <a:t> Tự động hóa quá trình chạy cụm mạng, database, kafka và các services chỉ với một tệp lệnh Docker Compose.</a:t>
            </a:r>
          </a:p>
          <a:p>
            <a:r>
              <a:rPr lang="vi-VN" b="1" dirty="0"/>
              <a:t>Giám sát sức khỏe (Health Check):</a:t>
            </a:r>
            <a:r>
              <a:rPr lang="vi-VN" dirty="0"/>
              <a:t> * Sử dụng Spring Boot Actuator mở endpoint /actuator/health.</a:t>
            </a:r>
          </a:p>
          <a:p>
            <a:pPr>
              <a:buFont typeface="Arial" panose="020B0604020202020204" pitchFamily="34" charset="0"/>
              <a:buChar char="•"/>
            </a:pPr>
            <a:r>
              <a:rPr lang="vi-VN" dirty="0"/>
              <a:t>Xuất metrics đo lường hiệu suất qua /actuator/prometheus.</a:t>
            </a:r>
          </a:p>
          <a:p>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Triển</a:t>
            </a:r>
            <a:r>
              <a:rPr lang="en-US" dirty="0"/>
              <a:t> </a:t>
            </a:r>
            <a:r>
              <a:rPr lang="en-US" dirty="0" err="1"/>
              <a:t>khai</a:t>
            </a:r>
            <a:r>
              <a:rPr lang="en-US" dirty="0"/>
              <a:t> &amp; </a:t>
            </a:r>
            <a:r>
              <a:rPr lang="en-US" dirty="0" err="1"/>
              <a:t>Giám</a:t>
            </a:r>
            <a:r>
              <a:rPr lang="en-US" dirty="0"/>
              <a:t> </a:t>
            </a:r>
            <a:r>
              <a:rPr lang="en-US" dirty="0" err="1"/>
              <a:t>sát</a:t>
            </a:r>
            <a:r>
              <a:rPr lang="en-US" dirty="0"/>
              <a:t> (Deployment &amp; Monitoring)</a:t>
            </a:r>
            <a:endParaRPr dirty="0"/>
          </a:p>
        </p:txBody>
      </p:sp>
      <p:pic>
        <p:nvPicPr>
          <p:cNvPr id="4" name="Content Placeholder 3">
            <a:extLst>
              <a:ext uri="{FF2B5EF4-FFF2-40B4-BE49-F238E27FC236}">
                <a16:creationId xmlns:a16="http://schemas.microsoft.com/office/drawing/2014/main" id="{AB0D3C30-01A7-3116-E389-40F878EF3384}"/>
              </a:ext>
            </a:extLst>
          </p:cNvPr>
          <p:cNvPicPr>
            <a:picLocks noGrp="1" noChangeAspect="1"/>
          </p:cNvPicPr>
          <p:nvPr>
            <p:ph idx="1"/>
          </p:nvPr>
        </p:nvPicPr>
        <p:blipFill>
          <a:blip r:embed="rId2"/>
          <a:stretch>
            <a:fillRect/>
          </a:stretch>
        </p:blipFill>
        <p:spPr>
          <a:xfrm>
            <a:off x="1661160" y="2016125"/>
            <a:ext cx="6136006" cy="344963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Docker Deployment</a:t>
            </a:r>
          </a:p>
        </p:txBody>
      </p:sp>
      <p:sp>
        <p:nvSpPr>
          <p:cNvPr id="3" name="Content Placeholder 2"/>
          <p:cNvSpPr>
            <a:spLocks noGrp="1"/>
          </p:cNvSpPr>
          <p:nvPr>
            <p:ph idx="1"/>
          </p:nvPr>
        </p:nvSpPr>
        <p:spPr/>
        <p:txBody>
          <a:bodyPr/>
          <a:lstStyle/>
          <a:p>
            <a:r>
              <a:t>Mỗi service là container</a:t>
            </a:r>
          </a:p>
          <a:p>
            <a:r>
              <a:t>Docker Compose chạy toàn hệ thống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Kết luận</a:t>
            </a:r>
          </a:p>
        </p:txBody>
      </p:sp>
      <p:sp>
        <p:nvSpPr>
          <p:cNvPr id="3" name="Content Placeholder 2"/>
          <p:cNvSpPr>
            <a:spLocks noGrp="1"/>
          </p:cNvSpPr>
          <p:nvPr>
            <p:ph idx="1"/>
          </p:nvPr>
        </p:nvSpPr>
        <p:spPr/>
        <p:txBody>
          <a:bodyPr/>
          <a:lstStyle/>
          <a:p>
            <a:r>
              <a:rPr lang="vi-VN" dirty="0"/>
              <a:t>Hệ thống đáp ứng tốt việc phân tách service, giao tiếp đồng bộ/bất đồng bộ mượt mà.</a:t>
            </a:r>
          </a:p>
          <a:p>
            <a:r>
              <a:rPr lang="vi-VN" dirty="0"/>
              <a:t>Khắc phục được nhược điểm của Monolithic, hỗ trợ mở rộng (scale) độc lập.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Cảm ơn thầy và các bạn!</a:t>
            </a:r>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{36CE792E-0F3A-3C4E-9295-E7F740EE2E1E}tf10001119</Template>
  <TotalTime>17</TotalTime>
  <Words>1021</Words>
  <Application>Microsoft Macintosh PowerPoint</Application>
  <PresentationFormat>On-screen Show (4:3)</PresentationFormat>
  <Paragraphs>63</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Gill Sans MT</vt:lpstr>
      <vt:lpstr>Google Sans Text</vt:lpstr>
      <vt:lpstr>Times New Roman</vt:lpstr>
      <vt:lpstr>Gallery</vt:lpstr>
      <vt:lpstr>MICROSERVICES ARCHITECTURE</vt:lpstr>
      <vt:lpstr>Giới thiệu</vt:lpstr>
      <vt:lpstr>Tổng quan kiến trúc</vt:lpstr>
      <vt:lpstr>Discovery Service (Eureka Server)</vt:lpstr>
      <vt:lpstr>Discovery Service (Eureka Server)</vt:lpstr>
      <vt:lpstr>Product Service </vt:lpstr>
      <vt:lpstr>Product Service</vt:lpstr>
      <vt:lpstr>Order Service</vt:lpstr>
      <vt:lpstr>Order Service</vt:lpstr>
      <vt:lpstr>Notification Service &amp; Apache Kafka</vt:lpstr>
      <vt:lpstr>Notification Service &amp; Apache Kafka</vt:lpstr>
      <vt:lpstr>API Gateway</vt:lpstr>
      <vt:lpstr>Triển khai &amp; Giám sát (Deployment &amp; Monitoring)</vt:lpstr>
      <vt:lpstr>Triển khai &amp; Giám sát (Deployment &amp; Monitoring)</vt:lpstr>
      <vt:lpstr>Docker Deployment</vt:lpstr>
      <vt:lpstr>Kết luận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MICROSERVICES ARCHITECTURE</dc:title>
  <dc:subject/>
  <dc:creator/>
  <cp:keywords/>
  <dc:description>generated using python-pptx</dc:description>
  <cp:lastModifiedBy>khanhtrantuan12a621@gmail.com</cp:lastModifiedBy>
  <cp:revision>3</cp:revision>
  <dcterms:created xsi:type="dcterms:W3CDTF">2013-01-27T09:14:16Z</dcterms:created>
  <dcterms:modified xsi:type="dcterms:W3CDTF">2026-04-09T14:13:13Z</dcterms:modified>
  <cp:category/>
</cp:coreProperties>
</file>