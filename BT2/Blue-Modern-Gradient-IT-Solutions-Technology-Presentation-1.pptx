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Neo Tech Bold" charset="1" panose="020B0804030504040204"/>
      <p:regular r:id="rId21"/>
    </p:embeddedFont>
    <p:embeddedFont>
      <p:font typeface="Poppins Bold" charset="1" panose="00000800000000000000"/>
      <p:regular r:id="rId22"/>
    </p:embeddedFont>
    <p:embeddedFont>
      <p:font typeface="Poppins" charset="1" panose="00000500000000000000"/>
      <p:regular r:id="rId23"/>
    </p:embeddedFont>
    <p:embeddedFont>
      <p:font typeface="Neo Tech" charset="1" panose="020B050403050404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sv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1.png" Type="http://schemas.openxmlformats.org/officeDocument/2006/relationships/image"/><Relationship Id="rId8"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6954155">
            <a:off x="11475847" y="-1670126"/>
            <a:ext cx="10212044" cy="7389806"/>
          </a:xfrm>
          <a:custGeom>
            <a:avLst/>
            <a:gdLst/>
            <a:ahLst/>
            <a:cxnLst/>
            <a:rect r="r" b="b" t="t" l="l"/>
            <a:pathLst>
              <a:path h="7389806" w="10212044">
                <a:moveTo>
                  <a:pt x="0" y="0"/>
                </a:moveTo>
                <a:lnTo>
                  <a:pt x="10212044" y="0"/>
                </a:lnTo>
                <a:lnTo>
                  <a:pt x="10212044" y="7389807"/>
                </a:lnTo>
                <a:lnTo>
                  <a:pt x="0" y="73898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3351545">
            <a:off x="-3478707" y="4537026"/>
            <a:ext cx="10212044" cy="7389806"/>
          </a:xfrm>
          <a:custGeom>
            <a:avLst/>
            <a:gdLst/>
            <a:ahLst/>
            <a:cxnLst/>
            <a:rect r="r" b="b" t="t" l="l"/>
            <a:pathLst>
              <a:path h="7389806" w="10212044">
                <a:moveTo>
                  <a:pt x="0" y="0"/>
                </a:moveTo>
                <a:lnTo>
                  <a:pt x="10212044" y="0"/>
                </a:lnTo>
                <a:lnTo>
                  <a:pt x="10212044" y="7389806"/>
                </a:lnTo>
                <a:lnTo>
                  <a:pt x="0" y="73898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6333348" y="8447529"/>
            <a:ext cx="925952" cy="919347"/>
            <a:chOff x="0" y="0"/>
            <a:chExt cx="289003" cy="286941"/>
          </a:xfrm>
        </p:grpSpPr>
        <p:sp>
          <p:nvSpPr>
            <p:cNvPr name="Freeform 7" id="7"/>
            <p:cNvSpPr/>
            <p:nvPr/>
          </p:nvSpPr>
          <p:spPr>
            <a:xfrm flipH="false" flipV="false" rot="0">
              <a:off x="0" y="0"/>
              <a:ext cx="289003" cy="286941"/>
            </a:xfrm>
            <a:custGeom>
              <a:avLst/>
              <a:gdLst/>
              <a:ahLst/>
              <a:cxnLst/>
              <a:rect r="r" b="b" t="t" l="l"/>
              <a:pathLst>
                <a:path h="286941" w="289003">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sp>
        <p:sp>
          <p:nvSpPr>
            <p:cNvPr name="TextBox 8" id="8"/>
            <p:cNvSpPr txBox="true"/>
            <p:nvPr/>
          </p:nvSpPr>
          <p:spPr>
            <a:xfrm>
              <a:off x="0" y="-38100"/>
              <a:ext cx="289003" cy="325041"/>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5400000">
            <a:off x="16650402" y="8694263"/>
            <a:ext cx="315151" cy="425879"/>
          </a:xfrm>
          <a:custGeom>
            <a:avLst/>
            <a:gdLst/>
            <a:ahLst/>
            <a:cxnLst/>
            <a:rect r="r" b="b" t="t" l="l"/>
            <a:pathLst>
              <a:path h="425879" w="315151">
                <a:moveTo>
                  <a:pt x="0" y="0"/>
                </a:moveTo>
                <a:lnTo>
                  <a:pt x="315151" y="0"/>
                </a:lnTo>
                <a:lnTo>
                  <a:pt x="315151" y="425880"/>
                </a:lnTo>
                <a:lnTo>
                  <a:pt x="0" y="4258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1159836" y="4352925"/>
            <a:ext cx="1392979" cy="139297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2" id="12"/>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TextBox 13" id="13"/>
          <p:cNvSpPr txBox="true"/>
          <p:nvPr/>
        </p:nvSpPr>
        <p:spPr>
          <a:xfrm rot="0">
            <a:off x="1664822" y="3126105"/>
            <a:ext cx="14668526" cy="2205990"/>
          </a:xfrm>
          <a:prstGeom prst="rect">
            <a:avLst/>
          </a:prstGeom>
        </p:spPr>
        <p:txBody>
          <a:bodyPr anchor="t" rtlCol="false" tIns="0" lIns="0" bIns="0" rIns="0">
            <a:spAutoFit/>
          </a:bodyPr>
          <a:lstStyle/>
          <a:p>
            <a:pPr algn="ctr">
              <a:lnSpc>
                <a:spcPts val="15336"/>
              </a:lnSpc>
            </a:pPr>
            <a:r>
              <a:rPr lang="en-US" b="true" sz="12780">
                <a:solidFill>
                  <a:srgbClr val="FFFFFF"/>
                </a:solidFill>
                <a:latin typeface="Neo Tech Bold"/>
                <a:ea typeface="Neo Tech Bold"/>
                <a:cs typeface="Neo Tech Bold"/>
                <a:sym typeface="Neo Tech Bold"/>
              </a:rPr>
              <a:t>AI AGENT</a:t>
            </a:r>
          </a:p>
        </p:txBody>
      </p:sp>
      <p:grpSp>
        <p:nvGrpSpPr>
          <p:cNvPr name="Group 14" id="14"/>
          <p:cNvGrpSpPr/>
          <p:nvPr/>
        </p:nvGrpSpPr>
        <p:grpSpPr>
          <a:xfrm rot="0">
            <a:off x="14753834" y="2055071"/>
            <a:ext cx="1392979" cy="139297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16" id="16"/>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TextBox 17" id="17"/>
          <p:cNvSpPr txBox="true"/>
          <p:nvPr/>
        </p:nvSpPr>
        <p:spPr>
          <a:xfrm rot="0">
            <a:off x="9694069" y="6303803"/>
            <a:ext cx="7565231" cy="2143726"/>
          </a:xfrm>
          <a:prstGeom prst="rect">
            <a:avLst/>
          </a:prstGeom>
        </p:spPr>
        <p:txBody>
          <a:bodyPr anchor="t" rtlCol="false" tIns="0" lIns="0" bIns="0" rIns="0">
            <a:spAutoFit/>
          </a:bodyPr>
          <a:lstStyle/>
          <a:p>
            <a:pPr algn="l">
              <a:lnSpc>
                <a:spcPts val="4131"/>
              </a:lnSpc>
            </a:pPr>
            <a:r>
              <a:rPr lang="en-US" sz="2951" b="true">
                <a:gradFill>
                  <a:gsLst>
                    <a:gs pos="0">
                      <a:srgbClr val="0CC0DF">
                        <a:alpha val="100000"/>
                      </a:srgbClr>
                    </a:gs>
                    <a:gs pos="100000">
                      <a:srgbClr val="FFDE59">
                        <a:alpha val="100000"/>
                      </a:srgbClr>
                    </a:gs>
                  </a:gsLst>
                  <a:lin ang="0"/>
                </a:gradFill>
                <a:latin typeface="Poppins Bold"/>
                <a:ea typeface="Poppins Bold"/>
                <a:cs typeface="Poppins Bold"/>
                <a:sym typeface="Poppins Bold"/>
              </a:rPr>
              <a:t>Môn: Seminar chuyên đề</a:t>
            </a:r>
          </a:p>
          <a:p>
            <a:pPr algn="l">
              <a:lnSpc>
                <a:spcPts val="3151"/>
              </a:lnSpc>
            </a:pPr>
            <a:r>
              <a:rPr lang="en-US" sz="2251" b="true">
                <a:gradFill>
                  <a:gsLst>
                    <a:gs pos="0">
                      <a:srgbClr val="0CC0DF">
                        <a:alpha val="100000"/>
                      </a:srgbClr>
                    </a:gs>
                    <a:gs pos="100000">
                      <a:srgbClr val="FFDE59">
                        <a:alpha val="100000"/>
                      </a:srgbClr>
                    </a:gs>
                  </a:gsLst>
                  <a:lin ang="0"/>
                </a:gradFill>
                <a:latin typeface="Poppins Bold"/>
                <a:ea typeface="Poppins Bold"/>
                <a:cs typeface="Poppins Bold"/>
                <a:sym typeface="Poppins Bold"/>
              </a:rPr>
              <a:t>Trần Tuấn Khanh - MSSV: 3122411092 - Công cụ AI</a:t>
            </a:r>
          </a:p>
          <a:p>
            <a:pPr algn="l">
              <a:lnSpc>
                <a:spcPts val="3151"/>
              </a:lnSpc>
            </a:pPr>
            <a:r>
              <a:rPr lang="en-US" sz="2251" b="true">
                <a:gradFill>
                  <a:gsLst>
                    <a:gs pos="0">
                      <a:srgbClr val="0CC0DF">
                        <a:alpha val="100000"/>
                      </a:srgbClr>
                    </a:gs>
                    <a:gs pos="100000">
                      <a:srgbClr val="FFDE59">
                        <a:alpha val="100000"/>
                      </a:srgbClr>
                    </a:gs>
                  </a:gsLst>
                  <a:lin ang="0"/>
                </a:gradFill>
                <a:latin typeface="Poppins Bold"/>
                <a:ea typeface="Poppins Bold"/>
                <a:cs typeface="Poppins Bold"/>
                <a:sym typeface="Poppins Bold"/>
              </a:rPr>
              <a:t>Đặng Thanh Vũ - MSSV: 3122411250 - Powerpoint</a:t>
            </a:r>
          </a:p>
          <a:p>
            <a:pPr algn="l">
              <a:lnSpc>
                <a:spcPts val="3151"/>
              </a:lnSpc>
            </a:pPr>
            <a:r>
              <a:rPr lang="en-US" sz="2251" b="true">
                <a:gradFill>
                  <a:gsLst>
                    <a:gs pos="0">
                      <a:srgbClr val="0CC0DF">
                        <a:alpha val="100000"/>
                      </a:srgbClr>
                    </a:gs>
                    <a:gs pos="100000">
                      <a:srgbClr val="FFDE59">
                        <a:alpha val="100000"/>
                      </a:srgbClr>
                    </a:gs>
                  </a:gsLst>
                  <a:lin ang="0"/>
                </a:gradFill>
                <a:latin typeface="Poppins Bold"/>
                <a:ea typeface="Poppins Bold"/>
                <a:cs typeface="Poppins Bold"/>
                <a:sym typeface="Poppins Bold"/>
              </a:rPr>
              <a:t>Trần Thái Hiễn - MSSV: 3122411052 - Công cụ AI</a:t>
            </a:r>
          </a:p>
          <a:p>
            <a:pPr algn="l">
              <a:lnSpc>
                <a:spcPts val="3151"/>
              </a:lnSpc>
              <a:spcBef>
                <a:spcPct val="0"/>
              </a:spcBef>
            </a:pPr>
            <a:r>
              <a:rPr lang="en-US" b="true" sz="2251">
                <a:gradFill>
                  <a:gsLst>
                    <a:gs pos="0">
                      <a:srgbClr val="0CC0DF">
                        <a:alpha val="100000"/>
                      </a:srgbClr>
                    </a:gs>
                    <a:gs pos="100000">
                      <a:srgbClr val="FFDE59">
                        <a:alpha val="100000"/>
                      </a:srgbClr>
                    </a:gs>
                  </a:gsLst>
                  <a:lin ang="0"/>
                </a:gradFill>
                <a:latin typeface="Poppins Bold"/>
                <a:ea typeface="Poppins Bold"/>
                <a:cs typeface="Poppins Bold"/>
                <a:sym typeface="Poppins Bold"/>
              </a:rPr>
              <a:t>Phan Gia Kiệt - MSSV: 3122411108 - Word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true" flipV="false" rot="622067">
            <a:off x="-1799682" y="5182569"/>
            <a:ext cx="13398293" cy="9695492"/>
          </a:xfrm>
          <a:custGeom>
            <a:avLst/>
            <a:gdLst/>
            <a:ahLst/>
            <a:cxnLst/>
            <a:rect r="r" b="b" t="t" l="l"/>
            <a:pathLst>
              <a:path h="9695492" w="13398293">
                <a:moveTo>
                  <a:pt x="13398293" y="0"/>
                </a:moveTo>
                <a:lnTo>
                  <a:pt x="0" y="0"/>
                </a:lnTo>
                <a:lnTo>
                  <a:pt x="0" y="9695493"/>
                </a:lnTo>
                <a:lnTo>
                  <a:pt x="13398293" y="9695493"/>
                </a:lnTo>
                <a:lnTo>
                  <a:pt x="133982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44385" y="894704"/>
            <a:ext cx="430901" cy="430901"/>
          </a:xfrm>
          <a:custGeom>
            <a:avLst/>
            <a:gdLst/>
            <a:ahLst/>
            <a:cxnLst/>
            <a:rect r="r" b="b" t="t" l="l"/>
            <a:pathLst>
              <a:path h="430901" w="430901">
                <a:moveTo>
                  <a:pt x="0" y="0"/>
                </a:moveTo>
                <a:lnTo>
                  <a:pt x="430902" y="0"/>
                </a:lnTo>
                <a:lnTo>
                  <a:pt x="430902" y="430901"/>
                </a:lnTo>
                <a:lnTo>
                  <a:pt x="0" y="4309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6161829" y="2893789"/>
            <a:ext cx="11771767" cy="4338870"/>
            <a:chOff x="0" y="0"/>
            <a:chExt cx="3100383" cy="1142748"/>
          </a:xfrm>
        </p:grpSpPr>
        <p:sp>
          <p:nvSpPr>
            <p:cNvPr name="Freeform 7" id="7"/>
            <p:cNvSpPr/>
            <p:nvPr/>
          </p:nvSpPr>
          <p:spPr>
            <a:xfrm flipH="false" flipV="false" rot="0">
              <a:off x="0" y="0"/>
              <a:ext cx="3100383" cy="1142748"/>
            </a:xfrm>
            <a:custGeom>
              <a:avLst/>
              <a:gdLst/>
              <a:ahLst/>
              <a:cxnLst/>
              <a:rect r="r" b="b" t="t" l="l"/>
              <a:pathLst>
                <a:path h="1142748" w="3100383">
                  <a:moveTo>
                    <a:pt x="65767" y="0"/>
                  </a:moveTo>
                  <a:lnTo>
                    <a:pt x="3034616" y="0"/>
                  </a:lnTo>
                  <a:cubicBezTo>
                    <a:pt x="3052059" y="0"/>
                    <a:pt x="3068787" y="6929"/>
                    <a:pt x="3081121" y="19263"/>
                  </a:cubicBezTo>
                  <a:cubicBezTo>
                    <a:pt x="3093454" y="31596"/>
                    <a:pt x="3100383" y="48324"/>
                    <a:pt x="3100383" y="65767"/>
                  </a:cubicBezTo>
                  <a:lnTo>
                    <a:pt x="3100383" y="1076981"/>
                  </a:lnTo>
                  <a:cubicBezTo>
                    <a:pt x="3100383" y="1113303"/>
                    <a:pt x="3070938" y="1142748"/>
                    <a:pt x="3034616" y="1142748"/>
                  </a:cubicBezTo>
                  <a:lnTo>
                    <a:pt x="65767" y="1142748"/>
                  </a:lnTo>
                  <a:cubicBezTo>
                    <a:pt x="29445" y="1142748"/>
                    <a:pt x="0" y="1113303"/>
                    <a:pt x="0" y="1076981"/>
                  </a:cubicBezTo>
                  <a:lnTo>
                    <a:pt x="0" y="65767"/>
                  </a:lnTo>
                  <a:cubicBezTo>
                    <a:pt x="0" y="48324"/>
                    <a:pt x="6929" y="31596"/>
                    <a:pt x="19263" y="19263"/>
                  </a:cubicBezTo>
                  <a:cubicBezTo>
                    <a:pt x="31596" y="6929"/>
                    <a:pt x="48324" y="0"/>
                    <a:pt x="65767" y="0"/>
                  </a:cubicBezTo>
                  <a:close/>
                </a:path>
              </a:pathLst>
            </a:custGeom>
            <a:solidFill>
              <a:srgbClr val="B9E1E4">
                <a:alpha val="44706"/>
              </a:srgbClr>
            </a:solidFill>
          </p:spPr>
        </p:sp>
        <p:sp>
          <p:nvSpPr>
            <p:cNvPr name="TextBox 8" id="8"/>
            <p:cNvSpPr txBox="true"/>
            <p:nvPr/>
          </p:nvSpPr>
          <p:spPr>
            <a:xfrm>
              <a:off x="0" y="-85725"/>
              <a:ext cx="3100383" cy="1228473"/>
            </a:xfrm>
            <a:prstGeom prst="rect">
              <a:avLst/>
            </a:prstGeom>
          </p:spPr>
          <p:txBody>
            <a:bodyPr anchor="ctr" rtlCol="false" tIns="50800" lIns="50800" bIns="50800" rIns="50800"/>
            <a:lstStyle/>
            <a:p>
              <a:pPr algn="l">
                <a:lnSpc>
                  <a:spcPts val="4551"/>
                </a:lnSpc>
              </a:pPr>
              <a:r>
                <a:rPr lang="en-US" sz="3251" b="true">
                  <a:gradFill>
                    <a:gsLst>
                      <a:gs pos="0">
                        <a:srgbClr val="0F1837">
                          <a:alpha val="45000"/>
                        </a:srgbClr>
                      </a:gs>
                      <a:gs pos="100000">
                        <a:srgbClr val="1A4866">
                          <a:alpha val="45000"/>
                        </a:srgbClr>
                      </a:gs>
                    </a:gsLst>
                    <a:path path="circle">
                      <a:fillToRect l="0" r="100000" t="0" b="100000"/>
                    </a:path>
                    <a:tileRect r="0" l="-100000" b="0" t="-100000"/>
                  </a:gradFill>
                  <a:latin typeface="Poppins Bold"/>
                  <a:ea typeface="Poppins Bold"/>
                  <a:cs typeface="Poppins Bold"/>
                  <a:sym typeface="Poppins Bold"/>
                </a:rPr>
                <a:t> I. Giới thiệu (Introduction)</a:t>
              </a:r>
            </a:p>
            <a:p>
              <a:pPr algn="l">
                <a:lnSpc>
                  <a:spcPts val="4551"/>
                </a:lnSpc>
              </a:pPr>
              <a:r>
                <a:rPr lang="en-US" sz="3251" b="true">
                  <a:gradFill>
                    <a:gsLst>
                      <a:gs pos="0">
                        <a:srgbClr val="0F1837">
                          <a:alpha val="45000"/>
                        </a:srgbClr>
                      </a:gs>
                      <a:gs pos="100000">
                        <a:srgbClr val="1A4866">
                          <a:alpha val="45000"/>
                        </a:srgbClr>
                      </a:gs>
                    </a:gsLst>
                    <a:path path="circle">
                      <a:fillToRect l="0" r="100000" t="0" b="100000"/>
                    </a:path>
                    <a:tileRect r="0" l="-100000" b="0" t="-100000"/>
                  </a:gradFill>
                  <a:latin typeface="Poppins Bold"/>
                  <a:ea typeface="Poppins Bold"/>
                  <a:cs typeface="Poppins Bold"/>
                  <a:sym typeface="Poppins Bold"/>
                </a:rPr>
                <a:t> II. Quá trình thực hiện (Implementation) </a:t>
              </a:r>
            </a:p>
            <a:p>
              <a:pPr algn="l">
                <a:lnSpc>
                  <a:spcPts val="4551"/>
                </a:lnSpc>
              </a:pPr>
              <a:r>
                <a:rPr lang="en-US" sz="3251" b="true">
                  <a:gradFill>
                    <a:gsLst>
                      <a:gs pos="0">
                        <a:srgbClr val="0F1837">
                          <a:alpha val="45000"/>
                        </a:srgbClr>
                      </a:gs>
                      <a:gs pos="100000">
                        <a:srgbClr val="1A4866">
                          <a:alpha val="45000"/>
                        </a:srgbClr>
                      </a:gs>
                    </a:gsLst>
                    <a:path path="circle">
                      <a:fillToRect l="0" r="100000" t="0" b="100000"/>
                    </a:path>
                    <a:tileRect r="0" l="-100000" b="0" t="-100000"/>
                  </a:gradFill>
                  <a:latin typeface="Poppins Bold"/>
                  <a:ea typeface="Poppins Bold"/>
                  <a:cs typeface="Poppins Bold"/>
                  <a:sym typeface="Poppins Bold"/>
                </a:rPr>
                <a:t> III. Các vấn đề gặp phải &amp; Giải pháp (Troubleshooting)</a:t>
              </a:r>
            </a:p>
            <a:p>
              <a:pPr algn="l">
                <a:lnSpc>
                  <a:spcPts val="4551"/>
                </a:lnSpc>
              </a:pPr>
              <a:r>
                <a:rPr lang="en-US" sz="3251" b="true">
                  <a:gradFill>
                    <a:gsLst>
                      <a:gs pos="0">
                        <a:srgbClr val="0F1837">
                          <a:alpha val="45000"/>
                        </a:srgbClr>
                      </a:gs>
                      <a:gs pos="100000">
                        <a:srgbClr val="1A4866">
                          <a:alpha val="45000"/>
                        </a:srgbClr>
                      </a:gs>
                    </a:gsLst>
                    <a:path path="circle">
                      <a:fillToRect l="0" r="100000" t="0" b="100000"/>
                    </a:path>
                    <a:tileRect r="0" l="-100000" b="0" t="-100000"/>
                  </a:gradFill>
                  <a:latin typeface="Poppins Bold"/>
                  <a:ea typeface="Poppins Bold"/>
                  <a:cs typeface="Poppins Bold"/>
                  <a:sym typeface="Poppins Bold"/>
                </a:rPr>
                <a:t> IV. Kết quả đạt được (Results)</a:t>
              </a:r>
            </a:p>
            <a:p>
              <a:pPr algn="l">
                <a:lnSpc>
                  <a:spcPts val="4551"/>
                </a:lnSpc>
              </a:pPr>
              <a:r>
                <a:rPr lang="en-US" b="true" sz="3251">
                  <a:gradFill>
                    <a:gsLst>
                      <a:gs pos="0">
                        <a:srgbClr val="0F1837">
                          <a:alpha val="45000"/>
                        </a:srgbClr>
                      </a:gs>
                      <a:gs pos="100000">
                        <a:srgbClr val="1A4866">
                          <a:alpha val="45000"/>
                        </a:srgbClr>
                      </a:gs>
                    </a:gsLst>
                    <a:path path="circle">
                      <a:fillToRect l="0" r="100000" t="0" b="100000"/>
                    </a:path>
                    <a:tileRect r="0" l="-100000" b="0" t="-100000"/>
                  </a:gradFill>
                  <a:latin typeface="Poppins Bold"/>
                  <a:ea typeface="Poppins Bold"/>
                  <a:cs typeface="Poppins Bold"/>
                  <a:sym typeface="Poppins Bold"/>
                </a:rPr>
                <a:t> V. Kết luận (Conclusion)</a:t>
              </a:r>
            </a:p>
          </p:txBody>
        </p:sp>
      </p:grpSp>
      <p:sp>
        <p:nvSpPr>
          <p:cNvPr name="TextBox 9" id="9"/>
          <p:cNvSpPr txBox="true"/>
          <p:nvPr/>
        </p:nvSpPr>
        <p:spPr>
          <a:xfrm rot="0">
            <a:off x="9144000" y="965066"/>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967280"/>
            <a:ext cx="1907082"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About</a:t>
            </a:r>
          </a:p>
        </p:txBody>
      </p:sp>
      <p:sp>
        <p:nvSpPr>
          <p:cNvPr name="TextBox 11" id="11"/>
          <p:cNvSpPr txBox="true"/>
          <p:nvPr/>
        </p:nvSpPr>
        <p:spPr>
          <a:xfrm rot="0">
            <a:off x="13726729" y="943100"/>
            <a:ext cx="1916881"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Content</a:t>
            </a:r>
          </a:p>
        </p:txBody>
      </p:sp>
      <p:sp>
        <p:nvSpPr>
          <p:cNvPr name="TextBox 12" id="12"/>
          <p:cNvSpPr txBox="true"/>
          <p:nvPr/>
        </p:nvSpPr>
        <p:spPr>
          <a:xfrm rot="0">
            <a:off x="15034325" y="965066"/>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534398" y="900922"/>
            <a:ext cx="3380502" cy="391795"/>
          </a:xfrm>
          <a:prstGeom prst="rect">
            <a:avLst/>
          </a:prstGeom>
        </p:spPr>
        <p:txBody>
          <a:bodyPr anchor="t" rtlCol="false" tIns="0" lIns="0" bIns="0" rIns="0">
            <a:spAutoFit/>
          </a:bodyPr>
          <a:lstStyle/>
          <a:p>
            <a:pPr algn="l">
              <a:lnSpc>
                <a:spcPts val="3079"/>
              </a:lnSpc>
            </a:pPr>
            <a:r>
              <a:rPr lang="en-US" sz="2199" b="true">
                <a:solidFill>
                  <a:srgbClr val="FFFFFF"/>
                </a:solidFill>
                <a:latin typeface="Poppins Bold"/>
                <a:ea typeface="Poppins Bold"/>
                <a:cs typeface="Poppins Bold"/>
                <a:sym typeface="Poppins Bold"/>
              </a:rPr>
              <a:t>THYNK UNLIMITED</a:t>
            </a:r>
          </a:p>
        </p:txBody>
      </p:sp>
      <p:sp>
        <p:nvSpPr>
          <p:cNvPr name="Freeform 14" id="14"/>
          <p:cNvSpPr/>
          <p:nvPr/>
        </p:nvSpPr>
        <p:spPr>
          <a:xfrm flipH="false" flipV="false" rot="3720470">
            <a:off x="-3516807" y="4537026"/>
            <a:ext cx="10212044" cy="7389806"/>
          </a:xfrm>
          <a:custGeom>
            <a:avLst/>
            <a:gdLst/>
            <a:ahLst/>
            <a:cxnLst/>
            <a:rect r="r" b="b" t="t" l="l"/>
            <a:pathLst>
              <a:path h="7389806" w="10212044">
                <a:moveTo>
                  <a:pt x="0" y="0"/>
                </a:moveTo>
                <a:lnTo>
                  <a:pt x="10212044" y="0"/>
                </a:lnTo>
                <a:lnTo>
                  <a:pt x="10212044" y="7389806"/>
                </a:lnTo>
                <a:lnTo>
                  <a:pt x="0" y="73898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159836" y="3964305"/>
            <a:ext cx="4607276" cy="2215515"/>
          </a:xfrm>
          <a:prstGeom prst="rect">
            <a:avLst/>
          </a:prstGeom>
        </p:spPr>
        <p:txBody>
          <a:bodyPr anchor="t" rtlCol="false" tIns="0" lIns="0" bIns="0" rIns="0">
            <a:spAutoFit/>
          </a:bodyPr>
          <a:lstStyle/>
          <a:p>
            <a:pPr algn="l">
              <a:lnSpc>
                <a:spcPts val="8151"/>
              </a:lnSpc>
            </a:pPr>
            <a:r>
              <a:rPr lang="en-US" sz="6792" b="true">
                <a:solidFill>
                  <a:srgbClr val="FFFFFF"/>
                </a:solidFill>
                <a:latin typeface="Neo Tech Bold"/>
                <a:ea typeface="Neo Tech Bold"/>
                <a:cs typeface="Neo Tech Bold"/>
                <a:sym typeface="Neo Tech Bold"/>
              </a:rPr>
              <a:t>BAO GỒM</a:t>
            </a:r>
          </a:p>
          <a:p>
            <a:pPr algn="l">
              <a:lnSpc>
                <a:spcPts val="8151"/>
              </a:lnSpc>
            </a:pPr>
            <a:r>
              <a:rPr lang="en-US" sz="6792" b="true">
                <a:solidFill>
                  <a:srgbClr val="FFFFFF"/>
                </a:solidFill>
                <a:latin typeface="Neo Tech Bold"/>
                <a:ea typeface="Neo Tech Bold"/>
                <a:cs typeface="Neo Tech Bold"/>
                <a:sym typeface="Neo Tech Bold"/>
              </a:rPr>
              <a:t> 5 PHẦN</a:t>
            </a:r>
          </a:p>
        </p:txBody>
      </p:sp>
      <p:grpSp>
        <p:nvGrpSpPr>
          <p:cNvPr name="Group 16" id="16"/>
          <p:cNvGrpSpPr/>
          <p:nvPr/>
        </p:nvGrpSpPr>
        <p:grpSpPr>
          <a:xfrm rot="0">
            <a:off x="16333348" y="8447529"/>
            <a:ext cx="925952" cy="919347"/>
            <a:chOff x="0" y="0"/>
            <a:chExt cx="289003" cy="286941"/>
          </a:xfrm>
        </p:grpSpPr>
        <p:sp>
          <p:nvSpPr>
            <p:cNvPr name="Freeform 17" id="17"/>
            <p:cNvSpPr/>
            <p:nvPr/>
          </p:nvSpPr>
          <p:spPr>
            <a:xfrm flipH="false" flipV="false" rot="0">
              <a:off x="0" y="0"/>
              <a:ext cx="289003" cy="286941"/>
            </a:xfrm>
            <a:custGeom>
              <a:avLst/>
              <a:gdLst/>
              <a:ahLst/>
              <a:cxnLst/>
              <a:rect r="r" b="b" t="t" l="l"/>
              <a:pathLst>
                <a:path h="286941" w="289003">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sp>
        <p:sp>
          <p:nvSpPr>
            <p:cNvPr name="TextBox 18" id="18"/>
            <p:cNvSpPr txBox="true"/>
            <p:nvPr/>
          </p:nvSpPr>
          <p:spPr>
            <a:xfrm>
              <a:off x="0" y="-38100"/>
              <a:ext cx="289003" cy="325041"/>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5400000">
            <a:off x="16650402" y="8694263"/>
            <a:ext cx="315151" cy="425879"/>
          </a:xfrm>
          <a:custGeom>
            <a:avLst/>
            <a:gdLst/>
            <a:ahLst/>
            <a:cxnLst/>
            <a:rect r="r" b="b" t="t" l="l"/>
            <a:pathLst>
              <a:path h="425879" w="315151">
                <a:moveTo>
                  <a:pt x="0" y="0"/>
                </a:moveTo>
                <a:lnTo>
                  <a:pt x="315151" y="0"/>
                </a:lnTo>
                <a:lnTo>
                  <a:pt x="315151" y="425880"/>
                </a:lnTo>
                <a:lnTo>
                  <a:pt x="0" y="4258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0" id="20"/>
          <p:cNvGrpSpPr/>
          <p:nvPr/>
        </p:nvGrpSpPr>
        <p:grpSpPr>
          <a:xfrm rot="0">
            <a:off x="17101333" y="1741715"/>
            <a:ext cx="1664529" cy="1664529"/>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22" id="22"/>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290210" y="108142"/>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8666139"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true" flipV="false" rot="622067">
            <a:off x="-1754495" y="6572465"/>
            <a:ext cx="12178944" cy="8813127"/>
          </a:xfrm>
          <a:custGeom>
            <a:avLst/>
            <a:gdLst/>
            <a:ahLst/>
            <a:cxnLst/>
            <a:rect r="r" b="b" t="t" l="l"/>
            <a:pathLst>
              <a:path h="8813127" w="12178944">
                <a:moveTo>
                  <a:pt x="12178944" y="0"/>
                </a:moveTo>
                <a:lnTo>
                  <a:pt x="0" y="0"/>
                </a:lnTo>
                <a:lnTo>
                  <a:pt x="0" y="8813127"/>
                </a:lnTo>
                <a:lnTo>
                  <a:pt x="12178944" y="8813127"/>
                </a:lnTo>
                <a:lnTo>
                  <a:pt x="1217894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7187646">
            <a:off x="12050913" y="-2660948"/>
            <a:ext cx="10212044" cy="7389806"/>
          </a:xfrm>
          <a:custGeom>
            <a:avLst/>
            <a:gdLst/>
            <a:ahLst/>
            <a:cxnLst/>
            <a:rect r="r" b="b" t="t" l="l"/>
            <a:pathLst>
              <a:path h="7389806" w="10212044">
                <a:moveTo>
                  <a:pt x="0" y="0"/>
                </a:moveTo>
                <a:lnTo>
                  <a:pt x="10212044" y="0"/>
                </a:lnTo>
                <a:lnTo>
                  <a:pt x="10212044" y="7389806"/>
                </a:lnTo>
                <a:lnTo>
                  <a:pt x="0" y="73898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44385" y="894704"/>
            <a:ext cx="430901" cy="430901"/>
          </a:xfrm>
          <a:custGeom>
            <a:avLst/>
            <a:gdLst/>
            <a:ahLst/>
            <a:cxnLst/>
            <a:rect r="r" b="b" t="t" l="l"/>
            <a:pathLst>
              <a:path h="430901" w="430901">
                <a:moveTo>
                  <a:pt x="0" y="0"/>
                </a:moveTo>
                <a:lnTo>
                  <a:pt x="430902" y="0"/>
                </a:lnTo>
                <a:lnTo>
                  <a:pt x="430902" y="430901"/>
                </a:lnTo>
                <a:lnTo>
                  <a:pt x="0" y="43090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724142" y="4707998"/>
            <a:ext cx="7818172" cy="3353569"/>
            <a:chOff x="0" y="0"/>
            <a:chExt cx="2059107" cy="883244"/>
          </a:xfrm>
        </p:grpSpPr>
        <p:sp>
          <p:nvSpPr>
            <p:cNvPr name="Freeform 8" id="8"/>
            <p:cNvSpPr/>
            <p:nvPr/>
          </p:nvSpPr>
          <p:spPr>
            <a:xfrm flipH="false" flipV="false" rot="0">
              <a:off x="0" y="0"/>
              <a:ext cx="2059107" cy="883244"/>
            </a:xfrm>
            <a:custGeom>
              <a:avLst/>
              <a:gdLst/>
              <a:ahLst/>
              <a:cxnLst/>
              <a:rect r="r" b="b" t="t" l="l"/>
              <a:pathLst>
                <a:path h="883244" w="2059107">
                  <a:moveTo>
                    <a:pt x="65356" y="0"/>
                  </a:moveTo>
                  <a:lnTo>
                    <a:pt x="1993751" y="0"/>
                  </a:lnTo>
                  <a:cubicBezTo>
                    <a:pt x="2029846" y="0"/>
                    <a:pt x="2059107" y="29261"/>
                    <a:pt x="2059107" y="65356"/>
                  </a:cubicBezTo>
                  <a:lnTo>
                    <a:pt x="2059107" y="817888"/>
                  </a:lnTo>
                  <a:cubicBezTo>
                    <a:pt x="2059107" y="835222"/>
                    <a:pt x="2052221" y="851845"/>
                    <a:pt x="2039965" y="864102"/>
                  </a:cubicBezTo>
                  <a:cubicBezTo>
                    <a:pt x="2027708" y="876359"/>
                    <a:pt x="2011084" y="883244"/>
                    <a:pt x="1993751" y="883244"/>
                  </a:cubicBezTo>
                  <a:lnTo>
                    <a:pt x="65356" y="883244"/>
                  </a:lnTo>
                  <a:cubicBezTo>
                    <a:pt x="48023" y="883244"/>
                    <a:pt x="31399" y="876359"/>
                    <a:pt x="19142" y="864102"/>
                  </a:cubicBezTo>
                  <a:cubicBezTo>
                    <a:pt x="6886" y="851845"/>
                    <a:pt x="0" y="835222"/>
                    <a:pt x="0" y="817888"/>
                  </a:cubicBezTo>
                  <a:lnTo>
                    <a:pt x="0" y="65356"/>
                  </a:lnTo>
                  <a:cubicBezTo>
                    <a:pt x="0" y="48023"/>
                    <a:pt x="6886" y="31399"/>
                    <a:pt x="19142" y="19142"/>
                  </a:cubicBezTo>
                  <a:cubicBezTo>
                    <a:pt x="31399" y="6886"/>
                    <a:pt x="48023" y="0"/>
                    <a:pt x="65356" y="0"/>
                  </a:cubicBezTo>
                  <a:close/>
                </a:path>
              </a:pathLst>
            </a:custGeom>
            <a:solidFill>
              <a:srgbClr val="B9E1E4">
                <a:alpha val="44706"/>
              </a:srgbClr>
            </a:solidFill>
          </p:spPr>
        </p:sp>
        <p:sp>
          <p:nvSpPr>
            <p:cNvPr name="TextBox 9" id="9"/>
            <p:cNvSpPr txBox="true"/>
            <p:nvPr/>
          </p:nvSpPr>
          <p:spPr>
            <a:xfrm>
              <a:off x="0" y="-66675"/>
              <a:ext cx="2059107" cy="949919"/>
            </a:xfrm>
            <a:prstGeom prst="rect">
              <a:avLst/>
            </a:prstGeom>
          </p:spPr>
          <p:txBody>
            <a:bodyPr anchor="ctr" rtlCol="false" tIns="50800" lIns="50800" bIns="50800" rIns="50800"/>
            <a:lstStyle/>
            <a:p>
              <a:pPr algn="ctr">
                <a:lnSpc>
                  <a:spcPts val="3151"/>
                </a:lnSpc>
              </a:pPr>
            </a:p>
          </p:txBody>
        </p:sp>
      </p:grpSp>
      <p:sp>
        <p:nvSpPr>
          <p:cNvPr name="TextBox 10" id="10"/>
          <p:cNvSpPr txBox="true"/>
          <p:nvPr/>
        </p:nvSpPr>
        <p:spPr>
          <a:xfrm rot="0">
            <a:off x="9144000" y="965066"/>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1" id="11"/>
          <p:cNvSpPr txBox="true"/>
          <p:nvPr/>
        </p:nvSpPr>
        <p:spPr>
          <a:xfrm rot="0">
            <a:off x="11408122" y="967280"/>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2" id="12"/>
          <p:cNvSpPr txBox="true"/>
          <p:nvPr/>
        </p:nvSpPr>
        <p:spPr>
          <a:xfrm rot="0">
            <a:off x="13726729" y="943100"/>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3" id="13"/>
          <p:cNvSpPr txBox="true"/>
          <p:nvPr/>
        </p:nvSpPr>
        <p:spPr>
          <a:xfrm rot="0">
            <a:off x="15034325" y="965066"/>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4" id="14"/>
          <p:cNvSpPr txBox="true"/>
          <p:nvPr/>
        </p:nvSpPr>
        <p:spPr>
          <a:xfrm rot="0">
            <a:off x="1534398" y="900922"/>
            <a:ext cx="3380502" cy="391795"/>
          </a:xfrm>
          <a:prstGeom prst="rect">
            <a:avLst/>
          </a:prstGeom>
        </p:spPr>
        <p:txBody>
          <a:bodyPr anchor="t" rtlCol="false" tIns="0" lIns="0" bIns="0" rIns="0">
            <a:spAutoFit/>
          </a:bodyPr>
          <a:lstStyle/>
          <a:p>
            <a:pPr algn="l">
              <a:lnSpc>
                <a:spcPts val="3079"/>
              </a:lnSpc>
            </a:pPr>
            <a:r>
              <a:rPr lang="en-US" sz="2199" b="true">
                <a:solidFill>
                  <a:srgbClr val="FFFFFF"/>
                </a:solidFill>
                <a:latin typeface="Poppins Bold"/>
                <a:ea typeface="Poppins Bold"/>
                <a:cs typeface="Poppins Bold"/>
                <a:sym typeface="Poppins Bold"/>
              </a:rPr>
              <a:t>THYNK UNLIMITED</a:t>
            </a:r>
          </a:p>
        </p:txBody>
      </p:sp>
      <p:grpSp>
        <p:nvGrpSpPr>
          <p:cNvPr name="Group 15" id="15"/>
          <p:cNvGrpSpPr/>
          <p:nvPr/>
        </p:nvGrpSpPr>
        <p:grpSpPr>
          <a:xfrm rot="0">
            <a:off x="16557941" y="9064778"/>
            <a:ext cx="925952" cy="919347"/>
            <a:chOff x="0" y="0"/>
            <a:chExt cx="289003" cy="286941"/>
          </a:xfrm>
        </p:grpSpPr>
        <p:sp>
          <p:nvSpPr>
            <p:cNvPr name="Freeform 16" id="16"/>
            <p:cNvSpPr/>
            <p:nvPr/>
          </p:nvSpPr>
          <p:spPr>
            <a:xfrm flipH="false" flipV="false" rot="0">
              <a:off x="0" y="0"/>
              <a:ext cx="289003" cy="286941"/>
            </a:xfrm>
            <a:custGeom>
              <a:avLst/>
              <a:gdLst/>
              <a:ahLst/>
              <a:cxnLst/>
              <a:rect r="r" b="b" t="t" l="l"/>
              <a:pathLst>
                <a:path h="286941" w="289003">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sp>
        <p:sp>
          <p:nvSpPr>
            <p:cNvPr name="TextBox 17" id="17"/>
            <p:cNvSpPr txBox="true"/>
            <p:nvPr/>
          </p:nvSpPr>
          <p:spPr>
            <a:xfrm>
              <a:off x="0" y="-38100"/>
              <a:ext cx="289003" cy="325041"/>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5400000">
            <a:off x="16863342" y="9311512"/>
            <a:ext cx="315151" cy="425879"/>
          </a:xfrm>
          <a:custGeom>
            <a:avLst/>
            <a:gdLst/>
            <a:ahLst/>
            <a:cxnLst/>
            <a:rect r="r" b="b" t="t" l="l"/>
            <a:pathLst>
              <a:path h="425879" w="315151">
                <a:moveTo>
                  <a:pt x="0" y="0"/>
                </a:moveTo>
                <a:lnTo>
                  <a:pt x="315151" y="0"/>
                </a:lnTo>
                <a:lnTo>
                  <a:pt x="315151" y="425880"/>
                </a:lnTo>
                <a:lnTo>
                  <a:pt x="0" y="4258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9" id="19"/>
          <p:cNvGrpSpPr/>
          <p:nvPr/>
        </p:nvGrpSpPr>
        <p:grpSpPr>
          <a:xfrm rot="0">
            <a:off x="9817081" y="4507973"/>
            <a:ext cx="7776198" cy="4041629"/>
            <a:chOff x="0" y="0"/>
            <a:chExt cx="2048052" cy="1064462"/>
          </a:xfrm>
        </p:grpSpPr>
        <p:sp>
          <p:nvSpPr>
            <p:cNvPr name="Freeform 20" id="20"/>
            <p:cNvSpPr/>
            <p:nvPr/>
          </p:nvSpPr>
          <p:spPr>
            <a:xfrm flipH="false" flipV="false" rot="0">
              <a:off x="0" y="0"/>
              <a:ext cx="2048052" cy="1064462"/>
            </a:xfrm>
            <a:custGeom>
              <a:avLst/>
              <a:gdLst/>
              <a:ahLst/>
              <a:cxnLst/>
              <a:rect r="r" b="b" t="t" l="l"/>
              <a:pathLst>
                <a:path h="1064462" w="2048052">
                  <a:moveTo>
                    <a:pt x="65709" y="0"/>
                  </a:moveTo>
                  <a:lnTo>
                    <a:pt x="1982343" y="0"/>
                  </a:lnTo>
                  <a:cubicBezTo>
                    <a:pt x="1999770" y="0"/>
                    <a:pt x="2016484" y="6923"/>
                    <a:pt x="2028806" y="19246"/>
                  </a:cubicBezTo>
                  <a:cubicBezTo>
                    <a:pt x="2041129" y="31569"/>
                    <a:pt x="2048052" y="48282"/>
                    <a:pt x="2048052" y="65709"/>
                  </a:cubicBezTo>
                  <a:lnTo>
                    <a:pt x="2048052" y="998753"/>
                  </a:lnTo>
                  <a:cubicBezTo>
                    <a:pt x="2048052" y="1016180"/>
                    <a:pt x="2041129" y="1032893"/>
                    <a:pt x="2028806" y="1045216"/>
                  </a:cubicBezTo>
                  <a:cubicBezTo>
                    <a:pt x="2016484" y="1057539"/>
                    <a:pt x="1999770" y="1064462"/>
                    <a:pt x="1982343" y="1064462"/>
                  </a:cubicBezTo>
                  <a:lnTo>
                    <a:pt x="65709" y="1064462"/>
                  </a:lnTo>
                  <a:cubicBezTo>
                    <a:pt x="48282" y="1064462"/>
                    <a:pt x="31569" y="1057539"/>
                    <a:pt x="19246" y="1045216"/>
                  </a:cubicBezTo>
                  <a:cubicBezTo>
                    <a:pt x="6923" y="1032893"/>
                    <a:pt x="0" y="1016180"/>
                    <a:pt x="0" y="998753"/>
                  </a:cubicBezTo>
                  <a:lnTo>
                    <a:pt x="0" y="65709"/>
                  </a:lnTo>
                  <a:cubicBezTo>
                    <a:pt x="0" y="48282"/>
                    <a:pt x="6923" y="31569"/>
                    <a:pt x="19246" y="19246"/>
                  </a:cubicBezTo>
                  <a:cubicBezTo>
                    <a:pt x="31569" y="6923"/>
                    <a:pt x="48282" y="0"/>
                    <a:pt x="65709" y="0"/>
                  </a:cubicBezTo>
                  <a:close/>
                </a:path>
              </a:pathLst>
            </a:custGeom>
            <a:solidFill>
              <a:srgbClr val="B9E1E4">
                <a:alpha val="44706"/>
              </a:srgbClr>
            </a:solidFill>
          </p:spPr>
        </p:sp>
        <p:sp>
          <p:nvSpPr>
            <p:cNvPr name="TextBox 21" id="21"/>
            <p:cNvSpPr txBox="true"/>
            <p:nvPr/>
          </p:nvSpPr>
          <p:spPr>
            <a:xfrm>
              <a:off x="0" y="-66675"/>
              <a:ext cx="2048052" cy="1131137"/>
            </a:xfrm>
            <a:prstGeom prst="rect">
              <a:avLst/>
            </a:prstGeom>
          </p:spPr>
          <p:txBody>
            <a:bodyPr anchor="ctr" rtlCol="false" tIns="50800" lIns="50800" bIns="50800" rIns="50800"/>
            <a:lstStyle/>
            <a:p>
              <a:pPr algn="ctr">
                <a:lnSpc>
                  <a:spcPts val="3151"/>
                </a:lnSpc>
              </a:pPr>
            </a:p>
          </p:txBody>
        </p:sp>
      </p:grpSp>
      <p:sp>
        <p:nvSpPr>
          <p:cNvPr name="TextBox 22" id="22"/>
          <p:cNvSpPr txBox="true"/>
          <p:nvPr/>
        </p:nvSpPr>
        <p:spPr>
          <a:xfrm rot="0">
            <a:off x="1534398" y="1392875"/>
            <a:ext cx="15188304" cy="1131570"/>
          </a:xfrm>
          <a:prstGeom prst="rect">
            <a:avLst/>
          </a:prstGeom>
        </p:spPr>
        <p:txBody>
          <a:bodyPr anchor="t" rtlCol="false" tIns="0" lIns="0" bIns="0" rIns="0">
            <a:spAutoFit/>
          </a:bodyPr>
          <a:lstStyle/>
          <a:p>
            <a:pPr algn="ctr">
              <a:lnSpc>
                <a:spcPts val="7809"/>
              </a:lnSpc>
            </a:pPr>
            <a:r>
              <a:rPr lang="en-US" b="true" sz="6507">
                <a:solidFill>
                  <a:srgbClr val="65FFE8"/>
                </a:solidFill>
                <a:latin typeface="Neo Tech Bold"/>
                <a:ea typeface="Neo Tech Bold"/>
                <a:cs typeface="Neo Tech Bold"/>
                <a:sym typeface="Neo Tech Bold"/>
              </a:rPr>
              <a:t>I. GIỚI THIỆU (INTRODUCTION):</a:t>
            </a:r>
          </a:p>
        </p:txBody>
      </p:sp>
      <p:sp>
        <p:nvSpPr>
          <p:cNvPr name="TextBox 23" id="23"/>
          <p:cNvSpPr txBox="true"/>
          <p:nvPr/>
        </p:nvSpPr>
        <p:spPr>
          <a:xfrm rot="0">
            <a:off x="788817" y="5175442"/>
            <a:ext cx="7688822" cy="2342481"/>
          </a:xfrm>
          <a:prstGeom prst="rect">
            <a:avLst/>
          </a:prstGeom>
        </p:spPr>
        <p:txBody>
          <a:bodyPr anchor="t" rtlCol="false" tIns="0" lIns="0" bIns="0" rIns="0">
            <a:spAutoFit/>
          </a:bodyPr>
          <a:lstStyle/>
          <a:p>
            <a:pPr algn="ctr" marL="572424" indent="-286212" lvl="1">
              <a:lnSpc>
                <a:spcPts val="3711"/>
              </a:lnSpc>
              <a:buFont typeface="Arial"/>
              <a:buChar char="•"/>
            </a:pPr>
            <a:r>
              <a:rPr lang="en-US" sz="2651">
                <a:solidFill>
                  <a:srgbClr val="FFFFFF"/>
                </a:solidFill>
                <a:latin typeface="Poppins"/>
                <a:ea typeface="Poppins"/>
                <a:cs typeface="Poppins"/>
                <a:sym typeface="Poppins"/>
              </a:rPr>
              <a:t>Xây dựng AI Chatbot trả lời dựa trên tài liệu chuyên ngành (PDF).</a:t>
            </a:r>
          </a:p>
          <a:p>
            <a:pPr algn="ctr">
              <a:lnSpc>
                <a:spcPts val="3711"/>
              </a:lnSpc>
            </a:pPr>
          </a:p>
          <a:p>
            <a:pPr algn="ctr" marL="572424" indent="-286212" lvl="1">
              <a:lnSpc>
                <a:spcPts val="3711"/>
              </a:lnSpc>
              <a:buFont typeface="Arial"/>
              <a:buChar char="•"/>
            </a:pPr>
            <a:r>
              <a:rPr lang="en-US" sz="2651" spc="-209">
                <a:solidFill>
                  <a:srgbClr val="FFFFFF"/>
                </a:solidFill>
                <a:latin typeface="Poppins"/>
                <a:ea typeface="Poppins"/>
                <a:cs typeface="Poppins"/>
                <a:sym typeface="Poppins"/>
              </a:rPr>
              <a:t>Ứng dụng kỹ thuật RAG (Retrieval - Augmented Generation).</a:t>
            </a:r>
          </a:p>
        </p:txBody>
      </p:sp>
      <p:grpSp>
        <p:nvGrpSpPr>
          <p:cNvPr name="Group 24" id="24"/>
          <p:cNvGrpSpPr/>
          <p:nvPr/>
        </p:nvGrpSpPr>
        <p:grpSpPr>
          <a:xfrm rot="0">
            <a:off x="2541677" y="3285222"/>
            <a:ext cx="4183102" cy="843018"/>
            <a:chOff x="0" y="0"/>
            <a:chExt cx="1101722" cy="222029"/>
          </a:xfrm>
        </p:grpSpPr>
        <p:sp>
          <p:nvSpPr>
            <p:cNvPr name="Freeform 25" id="25"/>
            <p:cNvSpPr/>
            <p:nvPr/>
          </p:nvSpPr>
          <p:spPr>
            <a:xfrm flipH="false" flipV="false" rot="0">
              <a:off x="0" y="0"/>
              <a:ext cx="1101722" cy="222029"/>
            </a:xfrm>
            <a:custGeom>
              <a:avLst/>
              <a:gdLst/>
              <a:ahLst/>
              <a:cxnLst/>
              <a:rect r="r" b="b" t="t" l="l"/>
              <a:pathLst>
                <a:path h="222029" w="1101722">
                  <a:moveTo>
                    <a:pt x="111015" y="0"/>
                  </a:moveTo>
                  <a:lnTo>
                    <a:pt x="990708" y="0"/>
                  </a:lnTo>
                  <a:cubicBezTo>
                    <a:pt x="1052019" y="0"/>
                    <a:pt x="1101722" y="49703"/>
                    <a:pt x="1101722" y="111015"/>
                  </a:cubicBezTo>
                  <a:lnTo>
                    <a:pt x="1101722" y="111015"/>
                  </a:lnTo>
                  <a:cubicBezTo>
                    <a:pt x="1101722" y="172326"/>
                    <a:pt x="1052019" y="222029"/>
                    <a:pt x="990708" y="222029"/>
                  </a:cubicBezTo>
                  <a:lnTo>
                    <a:pt x="111015" y="222029"/>
                  </a:lnTo>
                  <a:cubicBezTo>
                    <a:pt x="49703" y="222029"/>
                    <a:pt x="0" y="172326"/>
                    <a:pt x="0" y="111015"/>
                  </a:cubicBezTo>
                  <a:lnTo>
                    <a:pt x="0" y="111015"/>
                  </a:lnTo>
                  <a:cubicBezTo>
                    <a:pt x="0" y="49703"/>
                    <a:pt x="49703" y="0"/>
                    <a:pt x="111015"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26" id="26"/>
            <p:cNvSpPr txBox="true"/>
            <p:nvPr/>
          </p:nvSpPr>
          <p:spPr>
            <a:xfrm>
              <a:off x="0" y="-76200"/>
              <a:ext cx="1101722" cy="298229"/>
            </a:xfrm>
            <a:prstGeom prst="rect">
              <a:avLst/>
            </a:prstGeom>
          </p:spPr>
          <p:txBody>
            <a:bodyPr anchor="ctr" rtlCol="false" tIns="50800" lIns="50800" bIns="50800" rIns="50800"/>
            <a:lstStyle/>
            <a:p>
              <a:pPr algn="ctr">
                <a:lnSpc>
                  <a:spcPts val="3571"/>
                </a:lnSpc>
              </a:pPr>
              <a:r>
                <a:rPr lang="en-US" b="true" sz="2551">
                  <a:solidFill>
                    <a:srgbClr val="FFFFFF"/>
                  </a:solidFill>
                  <a:latin typeface="Poppins Bold"/>
                  <a:ea typeface="Poppins Bold"/>
                  <a:cs typeface="Poppins Bold"/>
                  <a:sym typeface="Poppins Bold"/>
                </a:rPr>
                <a:t>Mục tiêu:</a:t>
              </a:r>
            </a:p>
          </p:txBody>
        </p:sp>
      </p:grpSp>
      <p:grpSp>
        <p:nvGrpSpPr>
          <p:cNvPr name="Group 27" id="27"/>
          <p:cNvGrpSpPr/>
          <p:nvPr/>
        </p:nvGrpSpPr>
        <p:grpSpPr>
          <a:xfrm rot="0">
            <a:off x="11636356" y="3285222"/>
            <a:ext cx="4183102" cy="843018"/>
            <a:chOff x="0" y="0"/>
            <a:chExt cx="1101722" cy="222029"/>
          </a:xfrm>
        </p:grpSpPr>
        <p:sp>
          <p:nvSpPr>
            <p:cNvPr name="Freeform 28" id="28"/>
            <p:cNvSpPr/>
            <p:nvPr/>
          </p:nvSpPr>
          <p:spPr>
            <a:xfrm flipH="false" flipV="false" rot="0">
              <a:off x="0" y="0"/>
              <a:ext cx="1101722" cy="222029"/>
            </a:xfrm>
            <a:custGeom>
              <a:avLst/>
              <a:gdLst/>
              <a:ahLst/>
              <a:cxnLst/>
              <a:rect r="r" b="b" t="t" l="l"/>
              <a:pathLst>
                <a:path h="222029" w="1101722">
                  <a:moveTo>
                    <a:pt x="111015" y="0"/>
                  </a:moveTo>
                  <a:lnTo>
                    <a:pt x="990708" y="0"/>
                  </a:lnTo>
                  <a:cubicBezTo>
                    <a:pt x="1052019" y="0"/>
                    <a:pt x="1101722" y="49703"/>
                    <a:pt x="1101722" y="111015"/>
                  </a:cubicBezTo>
                  <a:lnTo>
                    <a:pt x="1101722" y="111015"/>
                  </a:lnTo>
                  <a:cubicBezTo>
                    <a:pt x="1101722" y="172326"/>
                    <a:pt x="1052019" y="222029"/>
                    <a:pt x="990708" y="222029"/>
                  </a:cubicBezTo>
                  <a:lnTo>
                    <a:pt x="111015" y="222029"/>
                  </a:lnTo>
                  <a:cubicBezTo>
                    <a:pt x="49703" y="222029"/>
                    <a:pt x="0" y="172326"/>
                    <a:pt x="0" y="111015"/>
                  </a:cubicBezTo>
                  <a:lnTo>
                    <a:pt x="0" y="111015"/>
                  </a:lnTo>
                  <a:cubicBezTo>
                    <a:pt x="0" y="49703"/>
                    <a:pt x="49703" y="0"/>
                    <a:pt x="111015"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29" id="29"/>
            <p:cNvSpPr txBox="true"/>
            <p:nvPr/>
          </p:nvSpPr>
          <p:spPr>
            <a:xfrm>
              <a:off x="0" y="-76200"/>
              <a:ext cx="1101722" cy="298229"/>
            </a:xfrm>
            <a:prstGeom prst="rect">
              <a:avLst/>
            </a:prstGeom>
          </p:spPr>
          <p:txBody>
            <a:bodyPr anchor="ctr" rtlCol="false" tIns="50800" lIns="50800" bIns="50800" rIns="50800"/>
            <a:lstStyle/>
            <a:p>
              <a:pPr algn="ctr">
                <a:lnSpc>
                  <a:spcPts val="3571"/>
                </a:lnSpc>
              </a:pPr>
              <a:r>
                <a:rPr lang="en-US" b="true" sz="2551">
                  <a:solidFill>
                    <a:srgbClr val="FFFFFF"/>
                  </a:solidFill>
                  <a:latin typeface="Poppins Bold"/>
                  <a:ea typeface="Poppins Bold"/>
                  <a:cs typeface="Poppins Bold"/>
                  <a:sym typeface="Poppins Bold"/>
                </a:rPr>
                <a:t>Công cụ sử dụng:</a:t>
              </a:r>
            </a:p>
          </p:txBody>
        </p:sp>
      </p:grpSp>
      <p:grpSp>
        <p:nvGrpSpPr>
          <p:cNvPr name="Group 30" id="30"/>
          <p:cNvGrpSpPr/>
          <p:nvPr/>
        </p:nvGrpSpPr>
        <p:grpSpPr>
          <a:xfrm rot="0">
            <a:off x="15643611" y="1526225"/>
            <a:ext cx="1392979" cy="1392979"/>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32" id="32"/>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33" id="33"/>
          <p:cNvGrpSpPr/>
          <p:nvPr/>
        </p:nvGrpSpPr>
        <p:grpSpPr>
          <a:xfrm rot="0">
            <a:off x="724142" y="3114995"/>
            <a:ext cx="1392979" cy="139297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35" id="35"/>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AutoShape 36" id="36"/>
          <p:cNvSpPr/>
          <p:nvPr/>
        </p:nvSpPr>
        <p:spPr>
          <a:xfrm flipV="true">
            <a:off x="9178906" y="2707405"/>
            <a:ext cx="0" cy="6492240"/>
          </a:xfrm>
          <a:prstGeom prst="line">
            <a:avLst/>
          </a:prstGeom>
          <a:ln cap="flat" w="38100">
            <a:solidFill>
              <a:srgbClr val="FFFFFF"/>
            </a:solidFill>
            <a:prstDash val="solid"/>
            <a:headEnd type="none" len="sm" w="sm"/>
            <a:tailEnd type="none" len="sm" w="sm"/>
          </a:ln>
        </p:spPr>
      </p:sp>
      <p:sp>
        <p:nvSpPr>
          <p:cNvPr name="TextBox 37" id="37"/>
          <p:cNvSpPr txBox="true"/>
          <p:nvPr/>
        </p:nvSpPr>
        <p:spPr>
          <a:xfrm rot="0">
            <a:off x="9639281" y="4814041"/>
            <a:ext cx="7953998" cy="3742656"/>
          </a:xfrm>
          <a:prstGeom prst="rect">
            <a:avLst/>
          </a:prstGeom>
        </p:spPr>
        <p:txBody>
          <a:bodyPr anchor="t" rtlCol="false" tIns="0" lIns="0" bIns="0" rIns="0">
            <a:spAutoFit/>
          </a:bodyPr>
          <a:lstStyle/>
          <a:p>
            <a:pPr algn="ctr" marL="572424" indent="-286212" lvl="1">
              <a:lnSpc>
                <a:spcPts val="3711"/>
              </a:lnSpc>
              <a:buFont typeface="Arial"/>
              <a:buChar char="•"/>
            </a:pPr>
            <a:r>
              <a:rPr lang="en-US" b="true" sz="2651">
                <a:solidFill>
                  <a:srgbClr val="FFFFFF"/>
                </a:solidFill>
                <a:latin typeface="Poppins Bold"/>
                <a:ea typeface="Poppins Bold"/>
                <a:cs typeface="Poppins Bold"/>
                <a:sym typeface="Poppins Bold"/>
              </a:rPr>
              <a:t>Nền tảng:</a:t>
            </a:r>
            <a:r>
              <a:rPr lang="en-US" sz="2651">
                <a:solidFill>
                  <a:srgbClr val="FFFFFF"/>
                </a:solidFill>
                <a:latin typeface="Poppins"/>
                <a:ea typeface="Poppins"/>
                <a:cs typeface="Poppins"/>
                <a:sym typeface="Poppins"/>
              </a:rPr>
              <a:t> Dify (Open source LLM App Development Platform).</a:t>
            </a:r>
          </a:p>
          <a:p>
            <a:pPr algn="ctr" marL="572424" indent="-286212" lvl="1">
              <a:lnSpc>
                <a:spcPts val="3711"/>
              </a:lnSpc>
              <a:spcBef>
                <a:spcPct val="0"/>
              </a:spcBef>
              <a:buFont typeface="Arial"/>
              <a:buChar char="•"/>
            </a:pPr>
            <a:r>
              <a:rPr lang="en-US" b="true" sz="2651">
                <a:solidFill>
                  <a:srgbClr val="FFFFFF"/>
                </a:solidFill>
                <a:latin typeface="Poppins Bold"/>
                <a:ea typeface="Poppins Bold"/>
                <a:cs typeface="Poppins Bold"/>
                <a:sym typeface="Poppins Bold"/>
              </a:rPr>
              <a:t>Mô hình AI (LLM):</a:t>
            </a:r>
            <a:r>
              <a:rPr lang="en-US" sz="2651">
                <a:solidFill>
                  <a:srgbClr val="FFFFFF"/>
                </a:solidFill>
                <a:latin typeface="Poppins"/>
                <a:ea typeface="Poppins"/>
                <a:cs typeface="Poppins"/>
                <a:sym typeface="Poppins"/>
              </a:rPr>
              <a:t> Google Gemini 1.5 Flash (Do tốc độ nhanh và hạn mức miễn phí tốt).</a:t>
            </a:r>
          </a:p>
          <a:p>
            <a:pPr algn="ctr" marL="572424" indent="-286212" lvl="1">
              <a:lnSpc>
                <a:spcPts val="3711"/>
              </a:lnSpc>
              <a:spcBef>
                <a:spcPct val="0"/>
              </a:spcBef>
              <a:buFont typeface="Arial"/>
              <a:buChar char="•"/>
            </a:pPr>
            <a:r>
              <a:rPr lang="en-US" b="true" sz="2651">
                <a:solidFill>
                  <a:srgbClr val="FFFFFF"/>
                </a:solidFill>
                <a:latin typeface="Poppins Bold"/>
                <a:ea typeface="Poppins Bold"/>
                <a:cs typeface="Poppins Bold"/>
                <a:sym typeface="Poppins Bold"/>
              </a:rPr>
              <a:t>Dữ liệu:</a:t>
            </a:r>
            <a:r>
              <a:rPr lang="en-US" sz="2651">
                <a:solidFill>
                  <a:srgbClr val="FFFFFF"/>
                </a:solidFill>
                <a:latin typeface="Poppins"/>
                <a:ea typeface="Poppins"/>
                <a:cs typeface="Poppins"/>
                <a:sym typeface="Poppins"/>
              </a:rPr>
              <a:t> Các file tài liệu môn học (Ví dụ: </a:t>
            </a:r>
          </a:p>
          <a:p>
            <a:pPr algn="ctr">
              <a:lnSpc>
                <a:spcPts val="3711"/>
              </a:lnSpc>
              <a:spcBef>
                <a:spcPct val="0"/>
              </a:spcBef>
            </a:pPr>
            <a:r>
              <a:rPr lang="en-US" sz="2651">
                <a:solidFill>
                  <a:srgbClr val="FFFFFF"/>
                </a:solidFill>
                <a:latin typeface="Poppins"/>
                <a:ea typeface="Poppins"/>
                <a:cs typeface="Poppins"/>
                <a:sym typeface="Poppins"/>
              </a:rPr>
              <a:t> </a:t>
            </a:r>
            <a:r>
              <a:rPr lang="en-US" sz="2651">
                <a:solidFill>
                  <a:srgbClr val="FFFFFF"/>
                </a:solidFill>
                <a:latin typeface="Poppins"/>
                <a:ea typeface="Poppins"/>
                <a:cs typeface="Poppins"/>
                <a:sym typeface="Poppins"/>
              </a:rPr>
              <a:t>02 - AI Agent Introduction.pdf, 02 - Docker WSL2.pdf...)</a:t>
            </a:r>
          </a:p>
          <a:p>
            <a:pPr algn="ctr">
              <a:lnSpc>
                <a:spcPts val="3711"/>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0">
            <a:off x="944385" y="894704"/>
            <a:ext cx="430901" cy="430901"/>
          </a:xfrm>
          <a:custGeom>
            <a:avLst/>
            <a:gdLst/>
            <a:ahLst/>
            <a:cxnLst/>
            <a:rect r="r" b="b" t="t" l="l"/>
            <a:pathLst>
              <a:path h="430901" w="430901">
                <a:moveTo>
                  <a:pt x="0" y="0"/>
                </a:moveTo>
                <a:lnTo>
                  <a:pt x="430902" y="0"/>
                </a:lnTo>
                <a:lnTo>
                  <a:pt x="430902" y="430901"/>
                </a:lnTo>
                <a:lnTo>
                  <a:pt x="0" y="4309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9144000" y="965066"/>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6" id="6"/>
          <p:cNvSpPr txBox="true"/>
          <p:nvPr/>
        </p:nvSpPr>
        <p:spPr>
          <a:xfrm rot="0">
            <a:off x="11408122" y="967280"/>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Freeform 7" id="7"/>
          <p:cNvSpPr/>
          <p:nvPr/>
        </p:nvSpPr>
        <p:spPr>
          <a:xfrm flipH="false" flipV="false" rot="-7076780">
            <a:off x="11120447" y="-921645"/>
            <a:ext cx="10739973" cy="7771835"/>
          </a:xfrm>
          <a:custGeom>
            <a:avLst/>
            <a:gdLst/>
            <a:ahLst/>
            <a:cxnLst/>
            <a:rect r="r" b="b" t="t" l="l"/>
            <a:pathLst>
              <a:path h="7771835" w="10739973">
                <a:moveTo>
                  <a:pt x="0" y="0"/>
                </a:moveTo>
                <a:lnTo>
                  <a:pt x="10739974" y="0"/>
                </a:lnTo>
                <a:lnTo>
                  <a:pt x="10739974" y="7771835"/>
                </a:lnTo>
                <a:lnTo>
                  <a:pt x="0" y="7771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3726729" y="943100"/>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9" id="9"/>
          <p:cNvSpPr txBox="true"/>
          <p:nvPr/>
        </p:nvSpPr>
        <p:spPr>
          <a:xfrm rot="0">
            <a:off x="15034325" y="965066"/>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0" id="10"/>
          <p:cNvSpPr txBox="true"/>
          <p:nvPr/>
        </p:nvSpPr>
        <p:spPr>
          <a:xfrm rot="0">
            <a:off x="1534398" y="900922"/>
            <a:ext cx="3380502" cy="391795"/>
          </a:xfrm>
          <a:prstGeom prst="rect">
            <a:avLst/>
          </a:prstGeom>
        </p:spPr>
        <p:txBody>
          <a:bodyPr anchor="t" rtlCol="false" tIns="0" lIns="0" bIns="0" rIns="0">
            <a:spAutoFit/>
          </a:bodyPr>
          <a:lstStyle/>
          <a:p>
            <a:pPr algn="l">
              <a:lnSpc>
                <a:spcPts val="3079"/>
              </a:lnSpc>
            </a:pPr>
            <a:r>
              <a:rPr lang="en-US" sz="2199" b="true">
                <a:solidFill>
                  <a:srgbClr val="FFFFFF"/>
                </a:solidFill>
                <a:latin typeface="Poppins Bold"/>
                <a:ea typeface="Poppins Bold"/>
                <a:cs typeface="Poppins Bold"/>
                <a:sym typeface="Poppins Bold"/>
              </a:rPr>
              <a:t>THYNK UNLIMITED</a:t>
            </a:r>
          </a:p>
        </p:txBody>
      </p:sp>
      <p:sp>
        <p:nvSpPr>
          <p:cNvPr name="TextBox 11" id="11"/>
          <p:cNvSpPr txBox="true"/>
          <p:nvPr/>
        </p:nvSpPr>
        <p:spPr>
          <a:xfrm rot="0">
            <a:off x="3336700" y="1698775"/>
            <a:ext cx="11614600" cy="2129790"/>
          </a:xfrm>
          <a:prstGeom prst="rect">
            <a:avLst/>
          </a:prstGeom>
        </p:spPr>
        <p:txBody>
          <a:bodyPr anchor="t" rtlCol="false" tIns="0" lIns="0" bIns="0" rIns="0">
            <a:spAutoFit/>
          </a:bodyPr>
          <a:lstStyle/>
          <a:p>
            <a:pPr algn="l">
              <a:lnSpc>
                <a:spcPts val="7812"/>
              </a:lnSpc>
            </a:pPr>
            <a:r>
              <a:rPr lang="en-US" sz="6510" b="true">
                <a:solidFill>
                  <a:srgbClr val="65FFE8"/>
                </a:solidFill>
                <a:latin typeface="Neo Tech Bold"/>
                <a:ea typeface="Neo Tech Bold"/>
                <a:cs typeface="Neo Tech Bold"/>
                <a:sym typeface="Neo Tech Bold"/>
              </a:rPr>
              <a:t>II. QUÁ TRÌNH THỰC HIỆN (IMPLEMENTATION):</a:t>
            </a:r>
          </a:p>
        </p:txBody>
      </p:sp>
      <p:grpSp>
        <p:nvGrpSpPr>
          <p:cNvPr name="Group 12" id="12"/>
          <p:cNvGrpSpPr/>
          <p:nvPr/>
        </p:nvGrpSpPr>
        <p:grpSpPr>
          <a:xfrm rot="0">
            <a:off x="1928036" y="4741661"/>
            <a:ext cx="12757133" cy="4223377"/>
            <a:chOff x="0" y="0"/>
            <a:chExt cx="3359903" cy="1112330"/>
          </a:xfrm>
        </p:grpSpPr>
        <p:sp>
          <p:nvSpPr>
            <p:cNvPr name="Freeform 13" id="13"/>
            <p:cNvSpPr/>
            <p:nvPr/>
          </p:nvSpPr>
          <p:spPr>
            <a:xfrm flipH="false" flipV="false" rot="0">
              <a:off x="0" y="0"/>
              <a:ext cx="3359903" cy="1112330"/>
            </a:xfrm>
            <a:custGeom>
              <a:avLst/>
              <a:gdLst/>
              <a:ahLst/>
              <a:cxnLst/>
              <a:rect r="r" b="b" t="t" l="l"/>
              <a:pathLst>
                <a:path h="1112330" w="3359903">
                  <a:moveTo>
                    <a:pt x="40053" y="0"/>
                  </a:moveTo>
                  <a:lnTo>
                    <a:pt x="3319850" y="0"/>
                  </a:lnTo>
                  <a:cubicBezTo>
                    <a:pt x="3341971" y="0"/>
                    <a:pt x="3359903" y="17933"/>
                    <a:pt x="3359903" y="40053"/>
                  </a:cubicBezTo>
                  <a:lnTo>
                    <a:pt x="3359903" y="1072276"/>
                  </a:lnTo>
                  <a:cubicBezTo>
                    <a:pt x="3359903" y="1094397"/>
                    <a:pt x="3341971" y="1112330"/>
                    <a:pt x="3319850" y="1112330"/>
                  </a:cubicBezTo>
                  <a:lnTo>
                    <a:pt x="40053" y="1112330"/>
                  </a:lnTo>
                  <a:cubicBezTo>
                    <a:pt x="29431" y="1112330"/>
                    <a:pt x="19243" y="1108110"/>
                    <a:pt x="11731" y="1100598"/>
                  </a:cubicBezTo>
                  <a:cubicBezTo>
                    <a:pt x="4220" y="1093087"/>
                    <a:pt x="0" y="1082899"/>
                    <a:pt x="0" y="1072276"/>
                  </a:cubicBezTo>
                  <a:lnTo>
                    <a:pt x="0" y="40053"/>
                  </a:lnTo>
                  <a:cubicBezTo>
                    <a:pt x="0" y="17933"/>
                    <a:pt x="17933" y="0"/>
                    <a:pt x="40053" y="0"/>
                  </a:cubicBezTo>
                  <a:close/>
                </a:path>
              </a:pathLst>
            </a:custGeom>
            <a:solidFill>
              <a:srgbClr val="B9E1E4">
                <a:alpha val="44706"/>
              </a:srgbClr>
            </a:solidFill>
          </p:spPr>
        </p:sp>
        <p:sp>
          <p:nvSpPr>
            <p:cNvPr name="TextBox 14" id="14"/>
            <p:cNvSpPr txBox="true"/>
            <p:nvPr/>
          </p:nvSpPr>
          <p:spPr>
            <a:xfrm>
              <a:off x="0" y="-85725"/>
              <a:ext cx="3359903" cy="1198055"/>
            </a:xfrm>
            <a:prstGeom prst="rect">
              <a:avLst/>
            </a:prstGeom>
          </p:spPr>
          <p:txBody>
            <a:bodyPr anchor="ctr" rtlCol="false" tIns="50800" lIns="50800" bIns="50800" rIns="50800"/>
            <a:lstStyle/>
            <a:p>
              <a:pPr algn="l" marL="658782" indent="-329391" lvl="1">
                <a:lnSpc>
                  <a:spcPts val="4271"/>
                </a:lnSpc>
                <a:buFont typeface="Arial"/>
                <a:buChar char="•"/>
              </a:pPr>
              <a:r>
                <a:rPr lang="en-US" b="true" sz="3051">
                  <a:solidFill>
                    <a:srgbClr val="000000">
                      <a:alpha val="44706"/>
                    </a:srgbClr>
                  </a:solidFill>
                  <a:latin typeface="Poppins Bold"/>
                  <a:ea typeface="Poppins Bold"/>
                  <a:cs typeface="Poppins Bold"/>
                  <a:sym typeface="Poppins Bold"/>
                </a:rPr>
                <a:t>Mô tả: </a:t>
              </a:r>
              <a:r>
                <a:rPr lang="en-US" sz="3051">
                  <a:solidFill>
                    <a:srgbClr val="000000">
                      <a:alpha val="44706"/>
                    </a:srgbClr>
                  </a:solidFill>
                  <a:latin typeface="Poppins"/>
                  <a:ea typeface="Poppins"/>
                  <a:cs typeface="Poppins"/>
                  <a:sym typeface="Poppins"/>
                </a:rPr>
                <a:t>Tạo bộ kiến thức (Knowledge Base) trên Dify và tải lên tài liệu PDF.</a:t>
              </a:r>
            </a:p>
            <a:p>
              <a:pPr algn="l" marL="658782" indent="-329391" lvl="1">
                <a:lnSpc>
                  <a:spcPts val="4271"/>
                </a:lnSpc>
                <a:buFont typeface="Arial"/>
                <a:buChar char="•"/>
              </a:pPr>
              <a:r>
                <a:rPr lang="en-US" b="true" sz="3051">
                  <a:solidFill>
                    <a:srgbClr val="000000">
                      <a:alpha val="44706"/>
                    </a:srgbClr>
                  </a:solidFill>
                  <a:latin typeface="Poppins Bold"/>
                  <a:ea typeface="Poppins Bold"/>
                  <a:cs typeface="Poppins Bold"/>
                  <a:sym typeface="Poppins Bold"/>
                </a:rPr>
                <a:t>Cấu hình Index: </a:t>
              </a:r>
              <a:r>
                <a:rPr lang="en-US" sz="3051">
                  <a:solidFill>
                    <a:srgbClr val="000000">
                      <a:alpha val="44706"/>
                    </a:srgbClr>
                  </a:solidFill>
                  <a:latin typeface="Poppins"/>
                  <a:ea typeface="Poppins"/>
                  <a:cs typeface="Poppins"/>
                  <a:sym typeface="Poppins"/>
                </a:rPr>
                <a:t>High Quality (Vector) - Chính xác hơn  </a:t>
              </a:r>
            </a:p>
            <a:p>
              <a:pPr algn="l">
                <a:lnSpc>
                  <a:spcPts val="4271"/>
                </a:lnSpc>
              </a:pPr>
              <a:r>
                <a:rPr lang="en-US" sz="3051">
                  <a:solidFill>
                    <a:srgbClr val="000000">
                      <a:alpha val="44706"/>
                    </a:srgbClr>
                  </a:solidFill>
                  <a:latin typeface="Poppins"/>
                  <a:ea typeface="Poppins"/>
                  <a:cs typeface="Poppins"/>
                  <a:sym typeface="Poppins"/>
                </a:rPr>
                <a:t>                                     Economical (Keyword) - Nhẹ hơn</a:t>
              </a:r>
            </a:p>
            <a:p>
              <a:pPr algn="l" marL="658782" indent="-329391" lvl="1">
                <a:lnSpc>
                  <a:spcPts val="4271"/>
                </a:lnSpc>
                <a:buFont typeface="Arial"/>
                <a:buChar char="•"/>
              </a:pPr>
              <a:r>
                <a:rPr lang="en-US" sz="3051">
                  <a:solidFill>
                    <a:srgbClr val="000000">
                      <a:alpha val="44706"/>
                    </a:srgbClr>
                  </a:solidFill>
                  <a:latin typeface="Poppins"/>
                  <a:ea typeface="Poppins"/>
                  <a:cs typeface="Poppins"/>
                  <a:sym typeface="Poppins"/>
                </a:rPr>
                <a:t>Dify tự động chia nhỏ văn bản (Chunking) để Bot dễ truy xuất.</a:t>
              </a:r>
            </a:p>
          </p:txBody>
        </p:sp>
      </p:grpSp>
      <p:sp>
        <p:nvSpPr>
          <p:cNvPr name="TextBox 15" id="15"/>
          <p:cNvSpPr txBox="true"/>
          <p:nvPr/>
        </p:nvSpPr>
        <p:spPr>
          <a:xfrm rot="0">
            <a:off x="2583104" y="3912385"/>
            <a:ext cx="8228915" cy="600676"/>
          </a:xfrm>
          <a:prstGeom prst="rect">
            <a:avLst/>
          </a:prstGeom>
        </p:spPr>
        <p:txBody>
          <a:bodyPr anchor="t" rtlCol="false" tIns="0" lIns="0" bIns="0" rIns="0">
            <a:spAutoFit/>
          </a:bodyPr>
          <a:lstStyle/>
          <a:p>
            <a:pPr algn="just" marL="0" indent="0" lvl="0">
              <a:lnSpc>
                <a:spcPts val="4691"/>
              </a:lnSpc>
              <a:spcBef>
                <a:spcPct val="0"/>
              </a:spcBef>
            </a:pPr>
            <a:r>
              <a:rPr lang="en-US" b="true" sz="3351">
                <a:solidFill>
                  <a:srgbClr val="FFFFFF"/>
                </a:solidFill>
                <a:latin typeface="Poppins Bold"/>
                <a:ea typeface="Poppins Bold"/>
                <a:cs typeface="Poppins Bold"/>
                <a:sym typeface="Poppins Bold"/>
              </a:rPr>
              <a:t>1. Chuẩn bị dữ liệu (Knowledge Base):</a:t>
            </a:r>
          </a:p>
        </p:txBody>
      </p:sp>
      <p:grpSp>
        <p:nvGrpSpPr>
          <p:cNvPr name="Group 16" id="16"/>
          <p:cNvGrpSpPr/>
          <p:nvPr/>
        </p:nvGrpSpPr>
        <p:grpSpPr>
          <a:xfrm rot="0">
            <a:off x="15034325" y="4513061"/>
            <a:ext cx="5399855" cy="539985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18" id="18"/>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19" id="19"/>
          <p:cNvGrpSpPr/>
          <p:nvPr/>
        </p:nvGrpSpPr>
        <p:grpSpPr>
          <a:xfrm rot="0">
            <a:off x="16333348" y="8447529"/>
            <a:ext cx="925952" cy="919347"/>
            <a:chOff x="0" y="0"/>
            <a:chExt cx="289003" cy="286941"/>
          </a:xfrm>
        </p:grpSpPr>
        <p:sp>
          <p:nvSpPr>
            <p:cNvPr name="Freeform 20" id="20"/>
            <p:cNvSpPr/>
            <p:nvPr/>
          </p:nvSpPr>
          <p:spPr>
            <a:xfrm flipH="false" flipV="false" rot="0">
              <a:off x="0" y="0"/>
              <a:ext cx="289003" cy="286941"/>
            </a:xfrm>
            <a:custGeom>
              <a:avLst/>
              <a:gdLst/>
              <a:ahLst/>
              <a:cxnLst/>
              <a:rect r="r" b="b" t="t" l="l"/>
              <a:pathLst>
                <a:path h="286941" w="289003">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sp>
        <p:sp>
          <p:nvSpPr>
            <p:cNvPr name="TextBox 21" id="21"/>
            <p:cNvSpPr txBox="true"/>
            <p:nvPr/>
          </p:nvSpPr>
          <p:spPr>
            <a:xfrm>
              <a:off x="0" y="-38100"/>
              <a:ext cx="289003" cy="325041"/>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5400000">
            <a:off x="16650402" y="8694263"/>
            <a:ext cx="315151" cy="425879"/>
          </a:xfrm>
          <a:custGeom>
            <a:avLst/>
            <a:gdLst/>
            <a:ahLst/>
            <a:cxnLst/>
            <a:rect r="r" b="b" t="t" l="l"/>
            <a:pathLst>
              <a:path h="425879" w="315151">
                <a:moveTo>
                  <a:pt x="0" y="0"/>
                </a:moveTo>
                <a:lnTo>
                  <a:pt x="315151" y="0"/>
                </a:lnTo>
                <a:lnTo>
                  <a:pt x="315151" y="425880"/>
                </a:lnTo>
                <a:lnTo>
                  <a:pt x="0" y="4258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3154411">
            <a:off x="-4445856" y="5671974"/>
            <a:ext cx="10212044" cy="7389806"/>
          </a:xfrm>
          <a:custGeom>
            <a:avLst/>
            <a:gdLst/>
            <a:ahLst/>
            <a:cxnLst/>
            <a:rect r="r" b="b" t="t" l="l"/>
            <a:pathLst>
              <a:path h="7389806" w="10212044">
                <a:moveTo>
                  <a:pt x="0" y="0"/>
                </a:moveTo>
                <a:lnTo>
                  <a:pt x="10212043" y="0"/>
                </a:lnTo>
                <a:lnTo>
                  <a:pt x="10212043" y="7389806"/>
                </a:lnTo>
                <a:lnTo>
                  <a:pt x="0" y="73898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4" id="24"/>
          <p:cNvGrpSpPr/>
          <p:nvPr/>
        </p:nvGrpSpPr>
        <p:grpSpPr>
          <a:xfrm rot="0">
            <a:off x="-448594" y="2267783"/>
            <a:ext cx="1560782" cy="156078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26" id="26"/>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TextBox 4" id="4"/>
          <p:cNvSpPr txBox="true"/>
          <p:nvPr/>
        </p:nvSpPr>
        <p:spPr>
          <a:xfrm rot="0">
            <a:off x="3162753" y="447675"/>
            <a:ext cx="11962493" cy="1085850"/>
          </a:xfrm>
          <a:prstGeom prst="rect">
            <a:avLst/>
          </a:prstGeom>
        </p:spPr>
        <p:txBody>
          <a:bodyPr anchor="t" rtlCol="false" tIns="0" lIns="0" bIns="0" rIns="0">
            <a:spAutoFit/>
          </a:bodyPr>
          <a:lstStyle/>
          <a:p>
            <a:pPr algn="l">
              <a:lnSpc>
                <a:spcPts val="4045"/>
              </a:lnSpc>
            </a:pPr>
            <a:r>
              <a:rPr lang="en-US" sz="3371">
                <a:solidFill>
                  <a:srgbClr val="FFFFFF"/>
                </a:solidFill>
                <a:latin typeface="Neo Tech"/>
                <a:ea typeface="Neo Tech"/>
                <a:cs typeface="Neo Tech"/>
                <a:sym typeface="Neo Tech"/>
              </a:rPr>
              <a:t>PHƯƠNG PHÁP INDEX: CHỌN “HIGH QUALITY” (VECTOR) HOẶC “ECONOMICAL” (KEYWORD) TÙY TRƯỜNG HỢP.</a:t>
            </a:r>
          </a:p>
        </p:txBody>
      </p:sp>
      <p:sp>
        <p:nvSpPr>
          <p:cNvPr name="Freeform 5" id="5"/>
          <p:cNvSpPr/>
          <p:nvPr/>
        </p:nvSpPr>
        <p:spPr>
          <a:xfrm flipH="true" flipV="false" rot="290217">
            <a:off x="-1753729" y="4662937"/>
            <a:ext cx="15979830" cy="11563586"/>
          </a:xfrm>
          <a:custGeom>
            <a:avLst/>
            <a:gdLst/>
            <a:ahLst/>
            <a:cxnLst/>
            <a:rect r="r" b="b" t="t" l="l"/>
            <a:pathLst>
              <a:path h="11563586" w="15979830">
                <a:moveTo>
                  <a:pt x="15979829" y="0"/>
                </a:moveTo>
                <a:lnTo>
                  <a:pt x="0" y="0"/>
                </a:lnTo>
                <a:lnTo>
                  <a:pt x="0" y="11563586"/>
                </a:lnTo>
                <a:lnTo>
                  <a:pt x="15979829" y="11563586"/>
                </a:lnTo>
                <a:lnTo>
                  <a:pt x="1597982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3315205" y="6558372"/>
            <a:ext cx="5399855" cy="539985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9" id="9"/>
          <p:cNvGrpSpPr/>
          <p:nvPr/>
        </p:nvGrpSpPr>
        <p:grpSpPr>
          <a:xfrm rot="0">
            <a:off x="2722677" y="7190589"/>
            <a:ext cx="2595217" cy="259521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1" id="11"/>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12" id="12"/>
          <p:cNvGrpSpPr/>
          <p:nvPr/>
        </p:nvGrpSpPr>
        <p:grpSpPr>
          <a:xfrm rot="0">
            <a:off x="17020917" y="8798626"/>
            <a:ext cx="925952" cy="919347"/>
            <a:chOff x="0" y="0"/>
            <a:chExt cx="289003" cy="286941"/>
          </a:xfrm>
        </p:grpSpPr>
        <p:sp>
          <p:nvSpPr>
            <p:cNvPr name="Freeform 13" id="13"/>
            <p:cNvSpPr/>
            <p:nvPr/>
          </p:nvSpPr>
          <p:spPr>
            <a:xfrm flipH="false" flipV="false" rot="0">
              <a:off x="0" y="0"/>
              <a:ext cx="289003" cy="286941"/>
            </a:xfrm>
            <a:custGeom>
              <a:avLst/>
              <a:gdLst/>
              <a:ahLst/>
              <a:cxnLst/>
              <a:rect r="r" b="b" t="t" l="l"/>
              <a:pathLst>
                <a:path h="286941" w="289003">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sp>
        <p:sp>
          <p:nvSpPr>
            <p:cNvPr name="TextBox 14" id="14"/>
            <p:cNvSpPr txBox="true"/>
            <p:nvPr/>
          </p:nvSpPr>
          <p:spPr>
            <a:xfrm>
              <a:off x="0" y="-38100"/>
              <a:ext cx="289003" cy="325041"/>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5400000">
            <a:off x="17326318" y="9045360"/>
            <a:ext cx="315151" cy="425879"/>
          </a:xfrm>
          <a:custGeom>
            <a:avLst/>
            <a:gdLst/>
            <a:ahLst/>
            <a:cxnLst/>
            <a:rect r="r" b="b" t="t" l="l"/>
            <a:pathLst>
              <a:path h="425879" w="315151">
                <a:moveTo>
                  <a:pt x="0" y="0"/>
                </a:moveTo>
                <a:lnTo>
                  <a:pt x="315151" y="0"/>
                </a:lnTo>
                <a:lnTo>
                  <a:pt x="315151" y="425880"/>
                </a:lnTo>
                <a:lnTo>
                  <a:pt x="0" y="4258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757081" y="1533525"/>
            <a:ext cx="14773838" cy="8341564"/>
          </a:xfrm>
          <a:custGeom>
            <a:avLst/>
            <a:gdLst/>
            <a:ahLst/>
            <a:cxnLst/>
            <a:rect r="r" b="b" t="t" l="l"/>
            <a:pathLst>
              <a:path h="8341564" w="14773838">
                <a:moveTo>
                  <a:pt x="0" y="0"/>
                </a:moveTo>
                <a:lnTo>
                  <a:pt x="14773838" y="0"/>
                </a:lnTo>
                <a:lnTo>
                  <a:pt x="14773838" y="8341564"/>
                </a:lnTo>
                <a:lnTo>
                  <a:pt x="0" y="8341564"/>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8311125">
            <a:off x="10995900" y="-2214356"/>
            <a:ext cx="13447968" cy="9731439"/>
          </a:xfrm>
          <a:custGeom>
            <a:avLst/>
            <a:gdLst/>
            <a:ahLst/>
            <a:cxnLst/>
            <a:rect r="r" b="b" t="t" l="l"/>
            <a:pathLst>
              <a:path h="9731439" w="13447968">
                <a:moveTo>
                  <a:pt x="0" y="0"/>
                </a:moveTo>
                <a:lnTo>
                  <a:pt x="13447968" y="0"/>
                </a:lnTo>
                <a:lnTo>
                  <a:pt x="13447968" y="9731439"/>
                </a:lnTo>
                <a:lnTo>
                  <a:pt x="0" y="97314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243699" y="457200"/>
            <a:ext cx="11650247" cy="1076325"/>
          </a:xfrm>
          <a:prstGeom prst="rect">
            <a:avLst/>
          </a:prstGeom>
        </p:spPr>
        <p:txBody>
          <a:bodyPr anchor="t" rtlCol="false" tIns="0" lIns="0" bIns="0" rIns="0">
            <a:spAutoFit/>
          </a:bodyPr>
          <a:lstStyle/>
          <a:p>
            <a:pPr algn="l">
              <a:lnSpc>
                <a:spcPts val="3998"/>
              </a:lnSpc>
            </a:pPr>
            <a:r>
              <a:rPr lang="en-US" sz="3332">
                <a:solidFill>
                  <a:srgbClr val="FFFFFF"/>
                </a:solidFill>
                <a:latin typeface="Neo Tech"/>
                <a:ea typeface="Neo Tech"/>
                <a:cs typeface="Neo Tech"/>
                <a:sym typeface="Neo Tech"/>
              </a:rPr>
              <a:t>XỬ LÝ FILE: DIFY TỰ ĐỘNG CHIA NHỎ VĂN BẢN (CHUNKING) ĐỂ BOT DỄ ĐỌC.</a:t>
            </a:r>
          </a:p>
        </p:txBody>
      </p:sp>
      <p:grpSp>
        <p:nvGrpSpPr>
          <p:cNvPr name="Group 6" id="6"/>
          <p:cNvGrpSpPr/>
          <p:nvPr/>
        </p:nvGrpSpPr>
        <p:grpSpPr>
          <a:xfrm rot="0">
            <a:off x="-518329" y="5699363"/>
            <a:ext cx="7524056" cy="75240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9" id="9"/>
          <p:cNvGrpSpPr/>
          <p:nvPr/>
        </p:nvGrpSpPr>
        <p:grpSpPr>
          <a:xfrm rot="0">
            <a:off x="12920469" y="2120800"/>
            <a:ext cx="2723142" cy="272314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1" id="11"/>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Freeform 12" id="12"/>
          <p:cNvSpPr/>
          <p:nvPr/>
        </p:nvSpPr>
        <p:spPr>
          <a:xfrm flipH="false" flipV="false" rot="0">
            <a:off x="1725618" y="1517251"/>
            <a:ext cx="14836763" cy="8364225"/>
          </a:xfrm>
          <a:custGeom>
            <a:avLst/>
            <a:gdLst/>
            <a:ahLst/>
            <a:cxnLst/>
            <a:rect r="r" b="b" t="t" l="l"/>
            <a:pathLst>
              <a:path h="8364225" w="14836763">
                <a:moveTo>
                  <a:pt x="0" y="0"/>
                </a:moveTo>
                <a:lnTo>
                  <a:pt x="14836764" y="0"/>
                </a:lnTo>
                <a:lnTo>
                  <a:pt x="14836764" y="8364225"/>
                </a:lnTo>
                <a:lnTo>
                  <a:pt x="0" y="8364225"/>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grpSp>
        <p:nvGrpSpPr>
          <p:cNvPr name="Group 4" id="4"/>
          <p:cNvGrpSpPr/>
          <p:nvPr/>
        </p:nvGrpSpPr>
        <p:grpSpPr>
          <a:xfrm rot="0">
            <a:off x="3884127" y="1054683"/>
            <a:ext cx="11006248" cy="1055429"/>
            <a:chOff x="0" y="0"/>
            <a:chExt cx="2898765" cy="277973"/>
          </a:xfrm>
        </p:grpSpPr>
        <p:sp>
          <p:nvSpPr>
            <p:cNvPr name="Freeform 5" id="5"/>
            <p:cNvSpPr/>
            <p:nvPr/>
          </p:nvSpPr>
          <p:spPr>
            <a:xfrm flipH="false" flipV="false" rot="0">
              <a:off x="0" y="0"/>
              <a:ext cx="2898765" cy="277973"/>
            </a:xfrm>
            <a:custGeom>
              <a:avLst/>
              <a:gdLst/>
              <a:ahLst/>
              <a:cxnLst/>
              <a:rect r="r" b="b" t="t" l="l"/>
              <a:pathLst>
                <a:path h="277973" w="2898765">
                  <a:moveTo>
                    <a:pt x="46425" y="0"/>
                  </a:moveTo>
                  <a:lnTo>
                    <a:pt x="2852340" y="0"/>
                  </a:lnTo>
                  <a:cubicBezTo>
                    <a:pt x="2877980" y="0"/>
                    <a:pt x="2898765" y="20785"/>
                    <a:pt x="2898765" y="46425"/>
                  </a:cubicBezTo>
                  <a:lnTo>
                    <a:pt x="2898765" y="231548"/>
                  </a:lnTo>
                  <a:cubicBezTo>
                    <a:pt x="2898765" y="243861"/>
                    <a:pt x="2893874" y="255669"/>
                    <a:pt x="2885167" y="264376"/>
                  </a:cubicBezTo>
                  <a:cubicBezTo>
                    <a:pt x="2876461" y="273082"/>
                    <a:pt x="2864652" y="277973"/>
                    <a:pt x="2852340" y="277973"/>
                  </a:cubicBezTo>
                  <a:lnTo>
                    <a:pt x="46425" y="277973"/>
                  </a:lnTo>
                  <a:cubicBezTo>
                    <a:pt x="34112" y="277973"/>
                    <a:pt x="22304" y="273082"/>
                    <a:pt x="13598" y="264376"/>
                  </a:cubicBezTo>
                  <a:cubicBezTo>
                    <a:pt x="4891" y="255669"/>
                    <a:pt x="0" y="243861"/>
                    <a:pt x="0" y="231548"/>
                  </a:cubicBezTo>
                  <a:lnTo>
                    <a:pt x="0" y="46425"/>
                  </a:lnTo>
                  <a:cubicBezTo>
                    <a:pt x="0" y="34112"/>
                    <a:pt x="4891" y="22304"/>
                    <a:pt x="13598" y="13598"/>
                  </a:cubicBezTo>
                  <a:cubicBezTo>
                    <a:pt x="22304" y="4891"/>
                    <a:pt x="34112" y="0"/>
                    <a:pt x="46425" y="0"/>
                  </a:cubicBezTo>
                  <a:close/>
                </a:path>
              </a:pathLst>
            </a:custGeom>
            <a:solidFill>
              <a:srgbClr val="B9E1E4">
                <a:alpha val="44706"/>
              </a:srgbClr>
            </a:solidFill>
          </p:spPr>
        </p:sp>
        <p:sp>
          <p:nvSpPr>
            <p:cNvPr name="TextBox 6" id="6"/>
            <p:cNvSpPr txBox="true"/>
            <p:nvPr/>
          </p:nvSpPr>
          <p:spPr>
            <a:xfrm>
              <a:off x="0" y="-85725"/>
              <a:ext cx="2898765" cy="363698"/>
            </a:xfrm>
            <a:prstGeom prst="rect">
              <a:avLst/>
            </a:prstGeom>
          </p:spPr>
          <p:txBody>
            <a:bodyPr anchor="ctr" rtlCol="false" tIns="50800" lIns="50800" bIns="50800" rIns="50800"/>
            <a:lstStyle/>
            <a:p>
              <a:pPr algn="ctr">
                <a:lnSpc>
                  <a:spcPts val="4271"/>
                </a:lnSpc>
              </a:pPr>
              <a:r>
                <a:rPr lang="en-US" b="true" sz="3051">
                  <a:gradFill>
                    <a:gsLst>
                      <a:gs pos="0">
                        <a:srgbClr val="000000">
                          <a:alpha val="45000"/>
                        </a:srgbClr>
                      </a:gs>
                      <a:gs pos="100000">
                        <a:srgbClr val="737373">
                          <a:alpha val="45000"/>
                        </a:srgbClr>
                      </a:gs>
                    </a:gsLst>
                    <a:lin ang="0"/>
                  </a:gradFill>
                  <a:latin typeface="Poppins Bold"/>
                  <a:ea typeface="Poppins Bold"/>
                  <a:cs typeface="Poppins Bold"/>
                  <a:sym typeface="Poppins Bold"/>
                </a:rPr>
                <a:t>Loại ứng dụng: Chatbot cơ bản (Basic Orchestration).</a:t>
              </a:r>
            </a:p>
          </p:txBody>
        </p:sp>
      </p:grpSp>
      <p:sp>
        <p:nvSpPr>
          <p:cNvPr name="Freeform 7" id="7"/>
          <p:cNvSpPr/>
          <p:nvPr/>
        </p:nvSpPr>
        <p:spPr>
          <a:xfrm flipH="true" flipV="false" rot="622067">
            <a:off x="-1754495" y="6572465"/>
            <a:ext cx="12178944" cy="8813127"/>
          </a:xfrm>
          <a:custGeom>
            <a:avLst/>
            <a:gdLst/>
            <a:ahLst/>
            <a:cxnLst/>
            <a:rect r="r" b="b" t="t" l="l"/>
            <a:pathLst>
              <a:path h="8813127" w="12178944">
                <a:moveTo>
                  <a:pt x="12178944" y="0"/>
                </a:moveTo>
                <a:lnTo>
                  <a:pt x="0" y="0"/>
                </a:lnTo>
                <a:lnTo>
                  <a:pt x="0" y="8813127"/>
                </a:lnTo>
                <a:lnTo>
                  <a:pt x="12178944" y="8813127"/>
                </a:lnTo>
                <a:lnTo>
                  <a:pt x="1217894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9372839">
            <a:off x="8166391" y="3695804"/>
            <a:ext cx="13447968" cy="9731439"/>
          </a:xfrm>
          <a:custGeom>
            <a:avLst/>
            <a:gdLst/>
            <a:ahLst/>
            <a:cxnLst/>
            <a:rect r="r" b="b" t="t" l="l"/>
            <a:pathLst>
              <a:path h="9731439" w="13447968">
                <a:moveTo>
                  <a:pt x="13447968" y="9731439"/>
                </a:moveTo>
                <a:lnTo>
                  <a:pt x="0" y="9731439"/>
                </a:lnTo>
                <a:lnTo>
                  <a:pt x="0" y="0"/>
                </a:lnTo>
                <a:lnTo>
                  <a:pt x="13447968" y="0"/>
                </a:lnTo>
                <a:lnTo>
                  <a:pt x="13447968" y="9731439"/>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890375" y="1845810"/>
            <a:ext cx="5572914" cy="557291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1" id="11"/>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12" id="12"/>
          <p:cNvGrpSpPr/>
          <p:nvPr/>
        </p:nvGrpSpPr>
        <p:grpSpPr>
          <a:xfrm rot="0">
            <a:off x="10806550" y="2337739"/>
            <a:ext cx="1795797" cy="179579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14" id="14"/>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Freeform 15" id="15"/>
          <p:cNvSpPr/>
          <p:nvPr/>
        </p:nvSpPr>
        <p:spPr>
          <a:xfrm flipH="false" flipV="false" rot="0">
            <a:off x="2331536" y="2337739"/>
            <a:ext cx="13624928" cy="7681053"/>
          </a:xfrm>
          <a:custGeom>
            <a:avLst/>
            <a:gdLst/>
            <a:ahLst/>
            <a:cxnLst/>
            <a:rect r="r" b="b" t="t" l="l"/>
            <a:pathLst>
              <a:path h="7681053" w="13624928">
                <a:moveTo>
                  <a:pt x="0" y="0"/>
                </a:moveTo>
                <a:lnTo>
                  <a:pt x="13624928" y="0"/>
                </a:lnTo>
                <a:lnTo>
                  <a:pt x="13624928" y="7681053"/>
                </a:lnTo>
                <a:lnTo>
                  <a:pt x="0" y="7681053"/>
                </a:lnTo>
                <a:lnTo>
                  <a:pt x="0" y="0"/>
                </a:lnTo>
                <a:close/>
              </a:path>
            </a:pathLst>
          </a:custGeom>
          <a:blipFill>
            <a:blip r:embed="rId7"/>
            <a:stretch>
              <a:fillRect l="0" t="0" r="0" b="0"/>
            </a:stretch>
          </a:blipFill>
        </p:spPr>
      </p:sp>
      <p:sp>
        <p:nvSpPr>
          <p:cNvPr name="TextBox 16" id="16"/>
          <p:cNvSpPr txBox="true"/>
          <p:nvPr/>
        </p:nvSpPr>
        <p:spPr>
          <a:xfrm rot="0">
            <a:off x="1986536" y="332152"/>
            <a:ext cx="8429577" cy="523875"/>
          </a:xfrm>
          <a:prstGeom prst="rect">
            <a:avLst/>
          </a:prstGeom>
        </p:spPr>
        <p:txBody>
          <a:bodyPr anchor="t" rtlCol="false" tIns="0" lIns="0" bIns="0" rIns="0">
            <a:spAutoFit/>
          </a:bodyPr>
          <a:lstStyle/>
          <a:p>
            <a:pPr algn="l">
              <a:lnSpc>
                <a:spcPts val="3960"/>
              </a:lnSpc>
            </a:pPr>
            <a:r>
              <a:rPr lang="en-US" sz="3300" b="true">
                <a:solidFill>
                  <a:srgbClr val="FFFFFF"/>
                </a:solidFill>
                <a:latin typeface="Poppins Bold"/>
                <a:ea typeface="Poppins Bold"/>
                <a:cs typeface="Poppins Bold"/>
                <a:sym typeface="Poppins Bold"/>
              </a:rPr>
              <a:t>2. XÂY DỰNG CHATBOT (STUDIO):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7187646">
            <a:off x="13181978" y="-2202934"/>
            <a:ext cx="10212044" cy="7389806"/>
          </a:xfrm>
          <a:custGeom>
            <a:avLst/>
            <a:gdLst/>
            <a:ahLst/>
            <a:cxnLst/>
            <a:rect r="r" b="b" t="t" l="l"/>
            <a:pathLst>
              <a:path h="7389806" w="10212044">
                <a:moveTo>
                  <a:pt x="0" y="0"/>
                </a:moveTo>
                <a:lnTo>
                  <a:pt x="10212044" y="0"/>
                </a:lnTo>
                <a:lnTo>
                  <a:pt x="10212044" y="7389807"/>
                </a:lnTo>
                <a:lnTo>
                  <a:pt x="0" y="73898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375287" y="412072"/>
            <a:ext cx="15884013" cy="1708727"/>
            <a:chOff x="0" y="0"/>
            <a:chExt cx="4183444" cy="450035"/>
          </a:xfrm>
        </p:grpSpPr>
        <p:sp>
          <p:nvSpPr>
            <p:cNvPr name="Freeform 6" id="6"/>
            <p:cNvSpPr/>
            <p:nvPr/>
          </p:nvSpPr>
          <p:spPr>
            <a:xfrm flipH="false" flipV="false" rot="0">
              <a:off x="0" y="0"/>
              <a:ext cx="4183444" cy="450035"/>
            </a:xfrm>
            <a:custGeom>
              <a:avLst/>
              <a:gdLst/>
              <a:ahLst/>
              <a:cxnLst/>
              <a:rect r="r" b="b" t="t" l="l"/>
              <a:pathLst>
                <a:path h="450035" w="4183444">
                  <a:moveTo>
                    <a:pt x="32169" y="0"/>
                  </a:moveTo>
                  <a:lnTo>
                    <a:pt x="4151275" y="0"/>
                  </a:lnTo>
                  <a:cubicBezTo>
                    <a:pt x="4169042" y="0"/>
                    <a:pt x="4183444" y="14402"/>
                    <a:pt x="4183444" y="32169"/>
                  </a:cubicBezTo>
                  <a:lnTo>
                    <a:pt x="4183444" y="417867"/>
                  </a:lnTo>
                  <a:cubicBezTo>
                    <a:pt x="4183444" y="435633"/>
                    <a:pt x="4169042" y="450035"/>
                    <a:pt x="4151275" y="450035"/>
                  </a:cubicBezTo>
                  <a:lnTo>
                    <a:pt x="32169" y="450035"/>
                  </a:lnTo>
                  <a:cubicBezTo>
                    <a:pt x="14402" y="450035"/>
                    <a:pt x="0" y="435633"/>
                    <a:pt x="0" y="417867"/>
                  </a:cubicBezTo>
                  <a:lnTo>
                    <a:pt x="0" y="32169"/>
                  </a:lnTo>
                  <a:cubicBezTo>
                    <a:pt x="0" y="14402"/>
                    <a:pt x="14402" y="0"/>
                    <a:pt x="32169" y="0"/>
                  </a:cubicBezTo>
                  <a:close/>
                </a:path>
              </a:pathLst>
            </a:custGeom>
            <a:solidFill>
              <a:srgbClr val="B9E1E4">
                <a:alpha val="44706"/>
              </a:srgbClr>
            </a:solidFill>
          </p:spPr>
        </p:sp>
        <p:sp>
          <p:nvSpPr>
            <p:cNvPr name="TextBox 7" id="7"/>
            <p:cNvSpPr txBox="true"/>
            <p:nvPr/>
          </p:nvSpPr>
          <p:spPr>
            <a:xfrm>
              <a:off x="0" y="-66675"/>
              <a:ext cx="4183444" cy="516710"/>
            </a:xfrm>
            <a:prstGeom prst="rect">
              <a:avLst/>
            </a:prstGeom>
          </p:spPr>
          <p:txBody>
            <a:bodyPr anchor="ctr" rtlCol="false" tIns="50800" lIns="50800" bIns="50800" rIns="50800"/>
            <a:lstStyle/>
            <a:p>
              <a:pPr algn="ctr">
                <a:lnSpc>
                  <a:spcPts val="3151"/>
                </a:lnSpc>
              </a:pPr>
            </a:p>
          </p:txBody>
        </p:sp>
      </p:grpSp>
      <p:sp>
        <p:nvSpPr>
          <p:cNvPr name="TextBox 8" id="8"/>
          <p:cNvSpPr txBox="true"/>
          <p:nvPr/>
        </p:nvSpPr>
        <p:spPr>
          <a:xfrm rot="0">
            <a:off x="1545503" y="439792"/>
            <a:ext cx="15321866" cy="2018631"/>
          </a:xfrm>
          <a:prstGeom prst="rect">
            <a:avLst/>
          </a:prstGeom>
        </p:spPr>
        <p:txBody>
          <a:bodyPr anchor="t" rtlCol="false" tIns="0" lIns="0" bIns="0" rIns="0">
            <a:spAutoFit/>
          </a:bodyPr>
          <a:lstStyle/>
          <a:p>
            <a:pPr algn="just" marL="658782" indent="-329391" lvl="1">
              <a:lnSpc>
                <a:spcPts val="4271"/>
              </a:lnSpc>
              <a:buFont typeface="Arial"/>
              <a:buChar char="•"/>
            </a:pPr>
            <a:r>
              <a:rPr lang="en-US" b="true" sz="3051">
                <a:solidFill>
                  <a:srgbClr val="FFFFFF"/>
                </a:solidFill>
                <a:latin typeface="Poppins Bold"/>
                <a:ea typeface="Poppins Bold"/>
                <a:cs typeface="Poppins Bold"/>
                <a:sym typeface="Poppins Bold"/>
              </a:rPr>
              <a:t>Cấu hình Prompt (Lời nhắc hệ thống):</a:t>
            </a:r>
            <a:r>
              <a:rPr lang="en-US" sz="3051">
                <a:solidFill>
                  <a:srgbClr val="FFFFFF"/>
                </a:solidFill>
                <a:latin typeface="Poppins"/>
                <a:ea typeface="Poppins"/>
                <a:cs typeface="Poppins"/>
                <a:sym typeface="Poppins"/>
              </a:rPr>
              <a:t> Thiết lập vai trò cho Bot (Ví dụ: "Bạn là trợ lý AI hữu ích, trả lời dựa trên ngữ cảnh được cung cấp...").</a:t>
            </a:r>
          </a:p>
          <a:p>
            <a:pPr algn="just" marL="658782" indent="-329391" lvl="1">
              <a:lnSpc>
                <a:spcPts val="4271"/>
              </a:lnSpc>
              <a:buFont typeface="Arial"/>
              <a:buChar char="•"/>
            </a:pPr>
            <a:r>
              <a:rPr lang="en-US" b="true" sz="3051">
                <a:solidFill>
                  <a:srgbClr val="FFFFFF"/>
                </a:solidFill>
                <a:latin typeface="Poppins Bold"/>
                <a:ea typeface="Poppins Bold"/>
                <a:cs typeface="Poppins Bold"/>
                <a:sym typeface="Poppins Bold"/>
              </a:rPr>
              <a:t>Kết nối ngữ cảnh (Context): </a:t>
            </a:r>
            <a:r>
              <a:rPr lang="en-US" sz="3051">
                <a:solidFill>
                  <a:srgbClr val="FFFFFF"/>
                </a:solidFill>
                <a:latin typeface="Poppins"/>
                <a:ea typeface="Poppins"/>
                <a:cs typeface="Poppins"/>
                <a:sym typeface="Poppins"/>
              </a:rPr>
              <a:t>Liên kết ứng dụng với bộ kiến thức đã tạo.</a:t>
            </a:r>
          </a:p>
          <a:p>
            <a:pPr algn="just" marL="0" indent="0" lvl="0">
              <a:lnSpc>
                <a:spcPts val="3151"/>
              </a:lnSpc>
              <a:spcBef>
                <a:spcPct val="0"/>
              </a:spcBef>
            </a:pPr>
          </a:p>
        </p:txBody>
      </p:sp>
      <p:sp>
        <p:nvSpPr>
          <p:cNvPr name="Freeform 9" id="9"/>
          <p:cNvSpPr/>
          <p:nvPr/>
        </p:nvSpPr>
        <p:spPr>
          <a:xfrm flipH="true" flipV="false" rot="1780735">
            <a:off x="-3007698" y="4201124"/>
            <a:ext cx="12178944" cy="8813127"/>
          </a:xfrm>
          <a:custGeom>
            <a:avLst/>
            <a:gdLst/>
            <a:ahLst/>
            <a:cxnLst/>
            <a:rect r="r" b="b" t="t" l="l"/>
            <a:pathLst>
              <a:path h="8813127" w="12178944">
                <a:moveTo>
                  <a:pt x="12178944" y="0"/>
                </a:moveTo>
                <a:lnTo>
                  <a:pt x="0" y="0"/>
                </a:lnTo>
                <a:lnTo>
                  <a:pt x="0" y="8813126"/>
                </a:lnTo>
                <a:lnTo>
                  <a:pt x="12178944" y="8813126"/>
                </a:lnTo>
                <a:lnTo>
                  <a:pt x="12178944"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375287" y="2504313"/>
            <a:ext cx="5644368" cy="564436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12" id="12"/>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13" id="13"/>
          <p:cNvGrpSpPr/>
          <p:nvPr/>
        </p:nvGrpSpPr>
        <p:grpSpPr>
          <a:xfrm rot="0">
            <a:off x="15474390" y="2120800"/>
            <a:ext cx="1392979" cy="139297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5" id="15"/>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Freeform 16" id="16"/>
          <p:cNvSpPr/>
          <p:nvPr/>
        </p:nvSpPr>
        <p:spPr>
          <a:xfrm flipH="false" flipV="false" rot="0">
            <a:off x="2405444" y="2458423"/>
            <a:ext cx="13477112" cy="7614568"/>
          </a:xfrm>
          <a:custGeom>
            <a:avLst/>
            <a:gdLst/>
            <a:ahLst/>
            <a:cxnLst/>
            <a:rect r="r" b="b" t="t" l="l"/>
            <a:pathLst>
              <a:path h="7614568" w="13477112">
                <a:moveTo>
                  <a:pt x="0" y="0"/>
                </a:moveTo>
                <a:lnTo>
                  <a:pt x="13477112" y="0"/>
                </a:lnTo>
                <a:lnTo>
                  <a:pt x="13477112" y="7614568"/>
                </a:lnTo>
                <a:lnTo>
                  <a:pt x="0" y="7614568"/>
                </a:lnTo>
                <a:lnTo>
                  <a:pt x="0" y="0"/>
                </a:lnTo>
                <a:close/>
              </a:path>
            </a:pathLst>
          </a:custGeom>
          <a:blipFill>
            <a:blip r:embed="rId7"/>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grpSp>
        <p:nvGrpSpPr>
          <p:cNvPr name="Group 4" id="4"/>
          <p:cNvGrpSpPr/>
          <p:nvPr/>
        </p:nvGrpSpPr>
        <p:grpSpPr>
          <a:xfrm rot="0">
            <a:off x="-675245" y="-2247157"/>
            <a:ext cx="7799788" cy="779978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6" id="6"/>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TextBox 7" id="7"/>
          <p:cNvSpPr txBox="true"/>
          <p:nvPr/>
        </p:nvSpPr>
        <p:spPr>
          <a:xfrm rot="0">
            <a:off x="754825" y="1187433"/>
            <a:ext cx="16147311" cy="2630136"/>
          </a:xfrm>
          <a:prstGeom prst="rect">
            <a:avLst/>
          </a:prstGeom>
        </p:spPr>
        <p:txBody>
          <a:bodyPr anchor="t" rtlCol="false" tIns="0" lIns="0" bIns="0" rIns="0">
            <a:spAutoFit/>
          </a:bodyPr>
          <a:lstStyle/>
          <a:p>
            <a:pPr algn="just">
              <a:lnSpc>
                <a:spcPts val="4131"/>
              </a:lnSpc>
            </a:pPr>
            <a:r>
              <a:rPr lang="en-US" b="true" sz="2951">
                <a:solidFill>
                  <a:srgbClr val="FFFFFF"/>
                </a:solidFill>
                <a:latin typeface="Poppins Bold"/>
                <a:ea typeface="Poppins Bold"/>
                <a:cs typeface="Poppins Bold"/>
                <a:sym typeface="Poppins Bold"/>
              </a:rPr>
              <a:t>Hiện tượng: </a:t>
            </a:r>
            <a:r>
              <a:rPr lang="en-US" sz="2951">
                <a:solidFill>
                  <a:srgbClr val="FFFFFF"/>
                </a:solidFill>
                <a:latin typeface="Poppins"/>
                <a:ea typeface="Poppins"/>
                <a:cs typeface="Poppins"/>
                <a:sym typeface="Poppins"/>
              </a:rPr>
              <a:t>Khi sử dụng mô hình Gemini 3 Pro, hệ thống báo lỗi đó do hết hạn mức (Quota) của gói miễn phí.</a:t>
            </a:r>
          </a:p>
          <a:p>
            <a:pPr algn="just" marL="637193" indent="-318596" lvl="1">
              <a:lnSpc>
                <a:spcPts val="4131"/>
              </a:lnSpc>
              <a:buFont typeface="Arial"/>
              <a:buChar char="•"/>
            </a:pPr>
            <a:r>
              <a:rPr lang="en-US" b="true" sz="2951">
                <a:solidFill>
                  <a:srgbClr val="FFFFFF"/>
                </a:solidFill>
                <a:latin typeface="Poppins Bold"/>
                <a:ea typeface="Poppins Bold"/>
                <a:cs typeface="Poppins Bold"/>
                <a:sym typeface="Poppins Bold"/>
              </a:rPr>
              <a:t>Giải pháp: </a:t>
            </a:r>
            <a:r>
              <a:rPr lang="en-US" sz="2951">
                <a:solidFill>
                  <a:srgbClr val="FFFFFF"/>
                </a:solidFill>
                <a:latin typeface="Poppins"/>
                <a:ea typeface="Poppins"/>
                <a:cs typeface="Poppins"/>
                <a:sym typeface="Poppins"/>
              </a:rPr>
              <a:t>Chuyển đổi sang mô hình </a:t>
            </a:r>
            <a:r>
              <a:rPr lang="en-US" b="true" sz="2951">
                <a:solidFill>
                  <a:srgbClr val="FFFFFF"/>
                </a:solidFill>
                <a:latin typeface="Poppins Bold"/>
                <a:ea typeface="Poppins Bold"/>
                <a:cs typeface="Poppins Bold"/>
                <a:sym typeface="Poppins Bold"/>
              </a:rPr>
              <a:t>Gemini 2.5 Flash</a:t>
            </a:r>
            <a:r>
              <a:rPr lang="en-US" sz="2951">
                <a:solidFill>
                  <a:srgbClr val="FFFFFF"/>
                </a:solidFill>
                <a:latin typeface="Poppins"/>
                <a:ea typeface="Poppins"/>
                <a:cs typeface="Poppins"/>
                <a:sym typeface="Poppins"/>
              </a:rPr>
              <a:t>. Mô hình này nhẹ hơn, phản hồi nhanh hơn và có hạn mức request cao hơn, phù hợp cho việc test liên tục.</a:t>
            </a:r>
          </a:p>
          <a:p>
            <a:pPr algn="just" marL="0" indent="0" lvl="0">
              <a:lnSpc>
                <a:spcPts val="4131"/>
              </a:lnSpc>
              <a:spcBef>
                <a:spcPct val="0"/>
              </a:spcBef>
            </a:pPr>
          </a:p>
        </p:txBody>
      </p:sp>
      <p:grpSp>
        <p:nvGrpSpPr>
          <p:cNvPr name="Group 8" id="8"/>
          <p:cNvGrpSpPr/>
          <p:nvPr/>
        </p:nvGrpSpPr>
        <p:grpSpPr>
          <a:xfrm rot="0">
            <a:off x="219877" y="1273158"/>
            <a:ext cx="17217206" cy="2127800"/>
            <a:chOff x="0" y="0"/>
            <a:chExt cx="4534573" cy="560408"/>
          </a:xfrm>
        </p:grpSpPr>
        <p:sp>
          <p:nvSpPr>
            <p:cNvPr name="Freeform 9" id="9"/>
            <p:cNvSpPr/>
            <p:nvPr/>
          </p:nvSpPr>
          <p:spPr>
            <a:xfrm flipH="false" flipV="false" rot="0">
              <a:off x="0" y="0"/>
              <a:ext cx="4534573" cy="560408"/>
            </a:xfrm>
            <a:custGeom>
              <a:avLst/>
              <a:gdLst/>
              <a:ahLst/>
              <a:cxnLst/>
              <a:rect r="r" b="b" t="t" l="l"/>
              <a:pathLst>
                <a:path h="560408" w="4534573">
                  <a:moveTo>
                    <a:pt x="29678" y="0"/>
                  </a:moveTo>
                  <a:lnTo>
                    <a:pt x="4504895" y="0"/>
                  </a:lnTo>
                  <a:cubicBezTo>
                    <a:pt x="4512766" y="0"/>
                    <a:pt x="4520315" y="3127"/>
                    <a:pt x="4525880" y="8692"/>
                  </a:cubicBezTo>
                  <a:cubicBezTo>
                    <a:pt x="4531446" y="14258"/>
                    <a:pt x="4534573" y="21807"/>
                    <a:pt x="4534573" y="29678"/>
                  </a:cubicBezTo>
                  <a:lnTo>
                    <a:pt x="4534573" y="530731"/>
                  </a:lnTo>
                  <a:cubicBezTo>
                    <a:pt x="4534573" y="538602"/>
                    <a:pt x="4531446" y="546150"/>
                    <a:pt x="4525880" y="551716"/>
                  </a:cubicBezTo>
                  <a:cubicBezTo>
                    <a:pt x="4520315" y="557282"/>
                    <a:pt x="4512766" y="560408"/>
                    <a:pt x="4504895" y="560408"/>
                  </a:cubicBezTo>
                  <a:lnTo>
                    <a:pt x="29678" y="560408"/>
                  </a:lnTo>
                  <a:cubicBezTo>
                    <a:pt x="21807" y="560408"/>
                    <a:pt x="14258" y="557282"/>
                    <a:pt x="8692" y="551716"/>
                  </a:cubicBezTo>
                  <a:cubicBezTo>
                    <a:pt x="3127" y="546150"/>
                    <a:pt x="0" y="538602"/>
                    <a:pt x="0" y="530731"/>
                  </a:cubicBezTo>
                  <a:lnTo>
                    <a:pt x="0" y="29678"/>
                  </a:lnTo>
                  <a:cubicBezTo>
                    <a:pt x="0" y="21807"/>
                    <a:pt x="3127" y="14258"/>
                    <a:pt x="8692" y="8692"/>
                  </a:cubicBezTo>
                  <a:cubicBezTo>
                    <a:pt x="14258" y="3127"/>
                    <a:pt x="21807" y="0"/>
                    <a:pt x="29678" y="0"/>
                  </a:cubicBezTo>
                  <a:close/>
                </a:path>
              </a:pathLst>
            </a:custGeom>
            <a:solidFill>
              <a:srgbClr val="B9E1E4">
                <a:alpha val="44706"/>
              </a:srgbClr>
            </a:solidFill>
          </p:spPr>
        </p:sp>
        <p:sp>
          <p:nvSpPr>
            <p:cNvPr name="TextBox 10" id="10"/>
            <p:cNvSpPr txBox="true"/>
            <p:nvPr/>
          </p:nvSpPr>
          <p:spPr>
            <a:xfrm>
              <a:off x="0" y="-66675"/>
              <a:ext cx="4534573" cy="627083"/>
            </a:xfrm>
            <a:prstGeom prst="rect">
              <a:avLst/>
            </a:prstGeom>
          </p:spPr>
          <p:txBody>
            <a:bodyPr anchor="ctr" rtlCol="false" tIns="50800" lIns="50800" bIns="50800" rIns="50800"/>
            <a:lstStyle/>
            <a:p>
              <a:pPr algn="ctr">
                <a:lnSpc>
                  <a:spcPts val="3291"/>
                </a:lnSpc>
              </a:pPr>
            </a:p>
          </p:txBody>
        </p:sp>
      </p:grpSp>
      <p:sp>
        <p:nvSpPr>
          <p:cNvPr name="Freeform 11" id="11"/>
          <p:cNvSpPr/>
          <p:nvPr/>
        </p:nvSpPr>
        <p:spPr>
          <a:xfrm flipH="false" flipV="false" rot="-1157353">
            <a:off x="9447666" y="4009603"/>
            <a:ext cx="13398293" cy="9695492"/>
          </a:xfrm>
          <a:custGeom>
            <a:avLst/>
            <a:gdLst/>
            <a:ahLst/>
            <a:cxnLst/>
            <a:rect r="r" b="b" t="t" l="l"/>
            <a:pathLst>
              <a:path h="9695492" w="13398293">
                <a:moveTo>
                  <a:pt x="0" y="0"/>
                </a:moveTo>
                <a:lnTo>
                  <a:pt x="13398293" y="0"/>
                </a:lnTo>
                <a:lnTo>
                  <a:pt x="13398293" y="9695492"/>
                </a:lnTo>
                <a:lnTo>
                  <a:pt x="0" y="96954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1686215" y="5599370"/>
            <a:ext cx="3257979" cy="325797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14" id="14"/>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Freeform 15" id="15"/>
          <p:cNvSpPr/>
          <p:nvPr/>
        </p:nvSpPr>
        <p:spPr>
          <a:xfrm flipH="false" flipV="false" rot="0">
            <a:off x="3372204" y="3585012"/>
            <a:ext cx="11543592" cy="6507700"/>
          </a:xfrm>
          <a:custGeom>
            <a:avLst/>
            <a:gdLst/>
            <a:ahLst/>
            <a:cxnLst/>
            <a:rect r="r" b="b" t="t" l="l"/>
            <a:pathLst>
              <a:path h="6507700" w="11543592">
                <a:moveTo>
                  <a:pt x="0" y="0"/>
                </a:moveTo>
                <a:lnTo>
                  <a:pt x="11543592" y="0"/>
                </a:lnTo>
                <a:lnTo>
                  <a:pt x="11543592" y="6507700"/>
                </a:lnTo>
                <a:lnTo>
                  <a:pt x="0" y="6507700"/>
                </a:lnTo>
                <a:lnTo>
                  <a:pt x="0" y="0"/>
                </a:lnTo>
                <a:close/>
              </a:path>
            </a:pathLst>
          </a:custGeom>
          <a:blipFill>
            <a:blip r:embed="rId5"/>
            <a:stretch>
              <a:fillRect l="0" t="0" r="0" b="0"/>
            </a:stretch>
          </a:blipFill>
        </p:spPr>
      </p:sp>
      <p:sp>
        <p:nvSpPr>
          <p:cNvPr name="TextBox 16" id="16"/>
          <p:cNvSpPr txBox="true"/>
          <p:nvPr/>
        </p:nvSpPr>
        <p:spPr>
          <a:xfrm rot="0">
            <a:off x="1028700" y="190500"/>
            <a:ext cx="21693400" cy="704850"/>
          </a:xfrm>
          <a:prstGeom prst="rect">
            <a:avLst/>
          </a:prstGeom>
        </p:spPr>
        <p:txBody>
          <a:bodyPr anchor="t" rtlCol="false" tIns="0" lIns="0" bIns="0" rIns="0">
            <a:spAutoFit/>
          </a:bodyPr>
          <a:lstStyle/>
          <a:p>
            <a:pPr algn="l">
              <a:lnSpc>
                <a:spcPts val="4923"/>
              </a:lnSpc>
            </a:pPr>
            <a:r>
              <a:rPr lang="en-US" sz="4102" b="true">
                <a:solidFill>
                  <a:srgbClr val="65FFE8"/>
                </a:solidFill>
                <a:latin typeface="Neo Tech Bold"/>
                <a:ea typeface="Neo Tech Bold"/>
                <a:cs typeface="Neo Tech Bold"/>
                <a:sym typeface="Neo Tech Bold"/>
              </a:rPr>
              <a:t>III. CÁC VẤN ĐỀ GẶP PHẢI &amp; GIẢI PHÁP (TROUBLESHOOTING):</a:t>
            </a:r>
          </a:p>
        </p:txBody>
      </p:sp>
      <p:sp>
        <p:nvSpPr>
          <p:cNvPr name="TextBox 17" id="17"/>
          <p:cNvSpPr txBox="true"/>
          <p:nvPr/>
        </p:nvSpPr>
        <p:spPr>
          <a:xfrm rot="0">
            <a:off x="2077828" y="698517"/>
            <a:ext cx="12289036" cy="574641"/>
          </a:xfrm>
          <a:prstGeom prst="rect">
            <a:avLst/>
          </a:prstGeom>
        </p:spPr>
        <p:txBody>
          <a:bodyPr anchor="t" rtlCol="false" tIns="0" lIns="0" bIns="0" rIns="0">
            <a:spAutoFit/>
          </a:bodyPr>
          <a:lstStyle/>
          <a:p>
            <a:pPr algn="ctr">
              <a:lnSpc>
                <a:spcPts val="4551"/>
              </a:lnSpc>
              <a:spcBef>
                <a:spcPct val="0"/>
              </a:spcBef>
            </a:pPr>
            <a:r>
              <a:rPr lang="en-US" b="true" sz="3251">
                <a:solidFill>
                  <a:srgbClr val="FFFFFF"/>
                </a:solidFill>
                <a:latin typeface="Poppins Bold"/>
                <a:ea typeface="Poppins Bold"/>
                <a:cs typeface="Poppins Bold"/>
                <a:sym typeface="Poppins Bold"/>
              </a:rPr>
              <a:t>Vấn đề 1: Lỗi hạn mức API (Error 429 - Resource Exhausted)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7076780">
            <a:off x="11120447" y="-921645"/>
            <a:ext cx="10739973" cy="7771835"/>
          </a:xfrm>
          <a:custGeom>
            <a:avLst/>
            <a:gdLst/>
            <a:ahLst/>
            <a:cxnLst/>
            <a:rect r="r" b="b" t="t" l="l"/>
            <a:pathLst>
              <a:path h="7771835" w="10739973">
                <a:moveTo>
                  <a:pt x="0" y="0"/>
                </a:moveTo>
                <a:lnTo>
                  <a:pt x="10739974" y="0"/>
                </a:lnTo>
                <a:lnTo>
                  <a:pt x="10739974" y="7771835"/>
                </a:lnTo>
                <a:lnTo>
                  <a:pt x="0" y="77718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360404" y="395003"/>
            <a:ext cx="12292949" cy="633697"/>
          </a:xfrm>
          <a:prstGeom prst="rect">
            <a:avLst/>
          </a:prstGeom>
        </p:spPr>
        <p:txBody>
          <a:bodyPr anchor="t" rtlCol="false" tIns="0" lIns="0" bIns="0" rIns="0">
            <a:spAutoFit/>
          </a:bodyPr>
          <a:lstStyle/>
          <a:p>
            <a:pPr algn="ctr" marL="0" indent="0" lvl="0">
              <a:lnSpc>
                <a:spcPts val="4971"/>
              </a:lnSpc>
              <a:spcBef>
                <a:spcPct val="0"/>
              </a:spcBef>
            </a:pPr>
            <a:r>
              <a:rPr lang="en-US" b="true" sz="3551">
                <a:solidFill>
                  <a:srgbClr val="FFFFFF"/>
                </a:solidFill>
                <a:latin typeface="Poppins Bold"/>
                <a:ea typeface="Poppins Bold"/>
                <a:cs typeface="Poppins Bold"/>
                <a:sym typeface="Poppins Bold"/>
              </a:rPr>
              <a:t>Vấn đề 2: Nhiễu thông tin (Knowledge Pollution):</a:t>
            </a:r>
          </a:p>
        </p:txBody>
      </p:sp>
      <p:sp>
        <p:nvSpPr>
          <p:cNvPr name="Freeform 6" id="6"/>
          <p:cNvSpPr/>
          <p:nvPr/>
        </p:nvSpPr>
        <p:spPr>
          <a:xfrm flipH="true" flipV="false" rot="960284">
            <a:off x="-3537541" y="3885448"/>
            <a:ext cx="15979830" cy="11563586"/>
          </a:xfrm>
          <a:custGeom>
            <a:avLst/>
            <a:gdLst/>
            <a:ahLst/>
            <a:cxnLst/>
            <a:rect r="r" b="b" t="t" l="l"/>
            <a:pathLst>
              <a:path h="11563586" w="15979830">
                <a:moveTo>
                  <a:pt x="15979830" y="0"/>
                </a:moveTo>
                <a:lnTo>
                  <a:pt x="0" y="0"/>
                </a:lnTo>
                <a:lnTo>
                  <a:pt x="0" y="11563586"/>
                </a:lnTo>
                <a:lnTo>
                  <a:pt x="15979830" y="11563586"/>
                </a:lnTo>
                <a:lnTo>
                  <a:pt x="15979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462379" y="1371289"/>
            <a:ext cx="17363242" cy="1360786"/>
            <a:chOff x="0" y="0"/>
            <a:chExt cx="4573035" cy="358396"/>
          </a:xfrm>
        </p:grpSpPr>
        <p:sp>
          <p:nvSpPr>
            <p:cNvPr name="Freeform 8" id="8"/>
            <p:cNvSpPr/>
            <p:nvPr/>
          </p:nvSpPr>
          <p:spPr>
            <a:xfrm flipH="false" flipV="false" rot="0">
              <a:off x="0" y="0"/>
              <a:ext cx="4573035" cy="358396"/>
            </a:xfrm>
            <a:custGeom>
              <a:avLst/>
              <a:gdLst/>
              <a:ahLst/>
              <a:cxnLst/>
              <a:rect r="r" b="b" t="t" l="l"/>
              <a:pathLst>
                <a:path h="358396" w="4573035">
                  <a:moveTo>
                    <a:pt x="21402" y="0"/>
                  </a:moveTo>
                  <a:lnTo>
                    <a:pt x="4551633" y="0"/>
                  </a:lnTo>
                  <a:cubicBezTo>
                    <a:pt x="4563453" y="0"/>
                    <a:pt x="4573035" y="9582"/>
                    <a:pt x="4573035" y="21402"/>
                  </a:cubicBezTo>
                  <a:lnTo>
                    <a:pt x="4573035" y="336994"/>
                  </a:lnTo>
                  <a:cubicBezTo>
                    <a:pt x="4573035" y="342670"/>
                    <a:pt x="4570780" y="348114"/>
                    <a:pt x="4566766" y="352128"/>
                  </a:cubicBezTo>
                  <a:cubicBezTo>
                    <a:pt x="4562753" y="356141"/>
                    <a:pt x="4557309" y="358396"/>
                    <a:pt x="4551633" y="358396"/>
                  </a:cubicBezTo>
                  <a:lnTo>
                    <a:pt x="21402" y="358396"/>
                  </a:lnTo>
                  <a:cubicBezTo>
                    <a:pt x="15726" y="358396"/>
                    <a:pt x="10282" y="356141"/>
                    <a:pt x="6269" y="352128"/>
                  </a:cubicBezTo>
                  <a:cubicBezTo>
                    <a:pt x="2255" y="348114"/>
                    <a:pt x="0" y="342670"/>
                    <a:pt x="0" y="336994"/>
                  </a:cubicBezTo>
                  <a:lnTo>
                    <a:pt x="0" y="21402"/>
                  </a:lnTo>
                  <a:cubicBezTo>
                    <a:pt x="0" y="15726"/>
                    <a:pt x="2255" y="10282"/>
                    <a:pt x="6269" y="6269"/>
                  </a:cubicBezTo>
                  <a:cubicBezTo>
                    <a:pt x="10282" y="2255"/>
                    <a:pt x="15726" y="0"/>
                    <a:pt x="21402" y="0"/>
                  </a:cubicBezTo>
                  <a:close/>
                </a:path>
              </a:pathLst>
            </a:custGeom>
            <a:solidFill>
              <a:srgbClr val="B9E1E4">
                <a:alpha val="44706"/>
              </a:srgbClr>
            </a:solidFill>
          </p:spPr>
        </p:sp>
        <p:sp>
          <p:nvSpPr>
            <p:cNvPr name="TextBox 9" id="9"/>
            <p:cNvSpPr txBox="true"/>
            <p:nvPr/>
          </p:nvSpPr>
          <p:spPr>
            <a:xfrm>
              <a:off x="0" y="-85725"/>
              <a:ext cx="4573035" cy="444121"/>
            </a:xfrm>
            <a:prstGeom prst="rect">
              <a:avLst/>
            </a:prstGeom>
          </p:spPr>
          <p:txBody>
            <a:bodyPr anchor="ctr" rtlCol="false" tIns="50800" lIns="50800" bIns="50800" rIns="50800"/>
            <a:lstStyle/>
            <a:p>
              <a:pPr algn="ctr">
                <a:lnSpc>
                  <a:spcPts val="4271"/>
                </a:lnSpc>
              </a:pPr>
              <a:r>
                <a:rPr lang="en-US" b="true" sz="3051">
                  <a:solidFill>
                    <a:srgbClr val="000000">
                      <a:alpha val="44706"/>
                    </a:srgbClr>
                  </a:solidFill>
                  <a:latin typeface="Poppins Bold"/>
                  <a:ea typeface="Poppins Bold"/>
                  <a:cs typeface="Poppins Bold"/>
                  <a:sym typeface="Poppins Bold"/>
                </a:rPr>
                <a:t>Hiện tượng: </a:t>
              </a:r>
              <a:r>
                <a:rPr lang="en-US" sz="3051">
                  <a:solidFill>
                    <a:srgbClr val="000000">
                      <a:alpha val="44706"/>
                    </a:srgbClr>
                  </a:solidFill>
                  <a:latin typeface="Poppins"/>
                  <a:ea typeface="Poppins"/>
                  <a:cs typeface="Poppins"/>
                  <a:sym typeface="Poppins"/>
                </a:rPr>
                <a:t>Khi hỏi về "AI Agent", Bot trả lời sai hoặc không tìm thấy thông tin vì nó bị nhầm lẫn với các file khác (như Docker, Vibe...) nằm chung trong bộ nhớ.</a:t>
              </a:r>
            </a:p>
          </p:txBody>
        </p:sp>
      </p:grpSp>
      <p:grpSp>
        <p:nvGrpSpPr>
          <p:cNvPr name="Group 10" id="10"/>
          <p:cNvGrpSpPr/>
          <p:nvPr/>
        </p:nvGrpSpPr>
        <p:grpSpPr>
          <a:xfrm rot="0">
            <a:off x="13656383" y="2334086"/>
            <a:ext cx="2755885" cy="275588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12" id="12"/>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13" id="13"/>
          <p:cNvGrpSpPr/>
          <p:nvPr/>
        </p:nvGrpSpPr>
        <p:grpSpPr>
          <a:xfrm rot="0">
            <a:off x="1845393" y="3378015"/>
            <a:ext cx="2088852" cy="208885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5" id="15"/>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Freeform 16" id="16"/>
          <p:cNvSpPr/>
          <p:nvPr/>
        </p:nvSpPr>
        <p:spPr>
          <a:xfrm flipH="false" flipV="false" rot="0">
            <a:off x="203531" y="3378015"/>
            <a:ext cx="8940469" cy="5040189"/>
          </a:xfrm>
          <a:custGeom>
            <a:avLst/>
            <a:gdLst/>
            <a:ahLst/>
            <a:cxnLst/>
            <a:rect r="r" b="b" t="t" l="l"/>
            <a:pathLst>
              <a:path h="5040189" w="8940469">
                <a:moveTo>
                  <a:pt x="0" y="0"/>
                </a:moveTo>
                <a:lnTo>
                  <a:pt x="8940469" y="0"/>
                </a:lnTo>
                <a:lnTo>
                  <a:pt x="8940469" y="5040189"/>
                </a:lnTo>
                <a:lnTo>
                  <a:pt x="0" y="5040189"/>
                </a:lnTo>
                <a:lnTo>
                  <a:pt x="0" y="0"/>
                </a:lnTo>
                <a:close/>
              </a:path>
            </a:pathLst>
          </a:custGeom>
          <a:blipFill>
            <a:blip r:embed="rId7"/>
            <a:stretch>
              <a:fillRect l="0" t="0" r="0" b="0"/>
            </a:stretch>
          </a:blipFill>
        </p:spPr>
      </p:sp>
      <p:sp>
        <p:nvSpPr>
          <p:cNvPr name="Freeform 17" id="17"/>
          <p:cNvSpPr/>
          <p:nvPr/>
        </p:nvSpPr>
        <p:spPr>
          <a:xfrm flipH="false" flipV="false" rot="0">
            <a:off x="9506878" y="3407131"/>
            <a:ext cx="8439702" cy="5011073"/>
          </a:xfrm>
          <a:custGeom>
            <a:avLst/>
            <a:gdLst/>
            <a:ahLst/>
            <a:cxnLst/>
            <a:rect r="r" b="b" t="t" l="l"/>
            <a:pathLst>
              <a:path h="5011073" w="8439702">
                <a:moveTo>
                  <a:pt x="0" y="0"/>
                </a:moveTo>
                <a:lnTo>
                  <a:pt x="8439702" y="0"/>
                </a:lnTo>
                <a:lnTo>
                  <a:pt x="8439702" y="5011073"/>
                </a:lnTo>
                <a:lnTo>
                  <a:pt x="0" y="5011073"/>
                </a:lnTo>
                <a:lnTo>
                  <a:pt x="0" y="0"/>
                </a:lnTo>
                <a:close/>
              </a:path>
            </a:pathLst>
          </a:custGeom>
          <a:blipFill>
            <a:blip r:embed="rId8"/>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7076780">
            <a:off x="11120447" y="-921645"/>
            <a:ext cx="10739973" cy="7771835"/>
          </a:xfrm>
          <a:custGeom>
            <a:avLst/>
            <a:gdLst/>
            <a:ahLst/>
            <a:cxnLst/>
            <a:rect r="r" b="b" t="t" l="l"/>
            <a:pathLst>
              <a:path h="7771835" w="10739973">
                <a:moveTo>
                  <a:pt x="0" y="0"/>
                </a:moveTo>
                <a:lnTo>
                  <a:pt x="10739974" y="0"/>
                </a:lnTo>
                <a:lnTo>
                  <a:pt x="10739974" y="7771835"/>
                </a:lnTo>
                <a:lnTo>
                  <a:pt x="0" y="77718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960284">
            <a:off x="-3537541" y="3885448"/>
            <a:ext cx="15979830" cy="11563586"/>
          </a:xfrm>
          <a:custGeom>
            <a:avLst/>
            <a:gdLst/>
            <a:ahLst/>
            <a:cxnLst/>
            <a:rect r="r" b="b" t="t" l="l"/>
            <a:pathLst>
              <a:path h="11563586" w="15979830">
                <a:moveTo>
                  <a:pt x="15979830" y="0"/>
                </a:moveTo>
                <a:lnTo>
                  <a:pt x="0" y="0"/>
                </a:lnTo>
                <a:lnTo>
                  <a:pt x="0" y="11563586"/>
                </a:lnTo>
                <a:lnTo>
                  <a:pt x="15979830" y="11563586"/>
                </a:lnTo>
                <a:lnTo>
                  <a:pt x="15979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456420" y="315861"/>
            <a:ext cx="16520361" cy="2203416"/>
          </a:xfrm>
          <a:prstGeom prst="rect">
            <a:avLst/>
          </a:prstGeom>
        </p:spPr>
        <p:txBody>
          <a:bodyPr anchor="t" rtlCol="false" tIns="0" lIns="0" bIns="0" rIns="0">
            <a:spAutoFit/>
          </a:bodyPr>
          <a:lstStyle/>
          <a:p>
            <a:pPr algn="l">
              <a:lnSpc>
                <a:spcPts val="4131"/>
              </a:lnSpc>
            </a:pPr>
            <a:r>
              <a:rPr lang="en-US" sz="2951" b="true">
                <a:solidFill>
                  <a:srgbClr val="FFFFFF"/>
                </a:solidFill>
                <a:latin typeface="Poppins Bold"/>
                <a:ea typeface="Poppins Bold"/>
                <a:cs typeface="Poppins Bold"/>
                <a:sym typeface="Poppins Bold"/>
              </a:rPr>
              <a:t>Giải pháp:</a:t>
            </a:r>
            <a:r>
              <a:rPr lang="en-US" sz="2951">
                <a:solidFill>
                  <a:srgbClr val="FFFFFF"/>
                </a:solidFill>
                <a:latin typeface="Poppins"/>
                <a:ea typeface="Poppins"/>
                <a:cs typeface="Poppins"/>
                <a:sym typeface="Poppins"/>
              </a:rPr>
              <a:t> Thực hiện </a:t>
            </a:r>
            <a:r>
              <a:rPr lang="en-US" sz="2951" b="true">
                <a:solidFill>
                  <a:srgbClr val="FFFFFF"/>
                </a:solidFill>
                <a:latin typeface="Poppins Bold"/>
                <a:ea typeface="Poppins Bold"/>
                <a:cs typeface="Poppins Bold"/>
                <a:sym typeface="Poppins Bold"/>
              </a:rPr>
              <a:t>Cô lập dữ liệu (Data Isolation).</a:t>
            </a:r>
          </a:p>
          <a:p>
            <a:pPr algn="l" marL="1274385" indent="-424795" lvl="2">
              <a:lnSpc>
                <a:spcPts val="4131"/>
              </a:lnSpc>
              <a:buFont typeface="Arial"/>
              <a:buChar char="⚬"/>
            </a:pPr>
            <a:r>
              <a:rPr lang="en-US" sz="2951">
                <a:solidFill>
                  <a:srgbClr val="FFFFFF"/>
                </a:solidFill>
                <a:latin typeface="Poppins"/>
                <a:ea typeface="Poppins"/>
                <a:cs typeface="Poppins"/>
                <a:sym typeface="Poppins"/>
              </a:rPr>
              <a:t>Tắt (Disable) các file không liên quan (Docker, Vibe...).</a:t>
            </a:r>
          </a:p>
          <a:p>
            <a:pPr algn="l" marL="1274385" indent="-424795" lvl="2">
              <a:lnSpc>
                <a:spcPts val="4131"/>
              </a:lnSpc>
              <a:buFont typeface="Arial"/>
              <a:buChar char="⚬"/>
            </a:pPr>
            <a:r>
              <a:rPr lang="en-US" sz="2951">
                <a:solidFill>
                  <a:srgbClr val="FFFFFF"/>
                </a:solidFill>
                <a:latin typeface="Poppins"/>
                <a:ea typeface="Poppins"/>
                <a:cs typeface="Poppins"/>
                <a:sym typeface="Poppins"/>
              </a:rPr>
              <a:t>Chỉ bật (Enable) file tài liệu đích (02 - AI Agent Introduction.pdf).</a:t>
            </a:r>
          </a:p>
          <a:p>
            <a:pPr algn="ctr" marL="0" indent="0" lvl="0">
              <a:lnSpc>
                <a:spcPts val="4971"/>
              </a:lnSpc>
              <a:spcBef>
                <a:spcPct val="0"/>
              </a:spcBef>
            </a:pPr>
          </a:p>
        </p:txBody>
      </p:sp>
      <p:grpSp>
        <p:nvGrpSpPr>
          <p:cNvPr name="Group 7" id="7"/>
          <p:cNvGrpSpPr/>
          <p:nvPr/>
        </p:nvGrpSpPr>
        <p:grpSpPr>
          <a:xfrm rot="0">
            <a:off x="13656383" y="2334086"/>
            <a:ext cx="2755885" cy="275588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10" id="10"/>
          <p:cNvGrpSpPr/>
          <p:nvPr/>
        </p:nvGrpSpPr>
        <p:grpSpPr>
          <a:xfrm rot="0">
            <a:off x="1845393" y="3378015"/>
            <a:ext cx="2088852" cy="208885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2" id="12"/>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Freeform 13" id="13"/>
          <p:cNvSpPr/>
          <p:nvPr/>
        </p:nvSpPr>
        <p:spPr>
          <a:xfrm flipH="false" flipV="false" rot="0">
            <a:off x="2633490" y="2305220"/>
            <a:ext cx="13021020" cy="7362021"/>
          </a:xfrm>
          <a:custGeom>
            <a:avLst/>
            <a:gdLst/>
            <a:ahLst/>
            <a:cxnLst/>
            <a:rect r="r" b="b" t="t" l="l"/>
            <a:pathLst>
              <a:path h="7362021" w="13021020">
                <a:moveTo>
                  <a:pt x="0" y="0"/>
                </a:moveTo>
                <a:lnTo>
                  <a:pt x="13021020" y="0"/>
                </a:lnTo>
                <a:lnTo>
                  <a:pt x="13021020" y="7362021"/>
                </a:lnTo>
                <a:lnTo>
                  <a:pt x="0" y="7362021"/>
                </a:lnTo>
                <a:lnTo>
                  <a:pt x="0" y="0"/>
                </a:lnTo>
                <a:close/>
              </a:path>
            </a:pathLst>
          </a:custGeom>
          <a:blipFill>
            <a:blip r:embed="rId7"/>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7076780">
            <a:off x="11120447" y="-921645"/>
            <a:ext cx="10739973" cy="7771835"/>
          </a:xfrm>
          <a:custGeom>
            <a:avLst/>
            <a:gdLst/>
            <a:ahLst/>
            <a:cxnLst/>
            <a:rect r="r" b="b" t="t" l="l"/>
            <a:pathLst>
              <a:path h="7771835" w="10739973">
                <a:moveTo>
                  <a:pt x="0" y="0"/>
                </a:moveTo>
                <a:lnTo>
                  <a:pt x="10739974" y="0"/>
                </a:lnTo>
                <a:lnTo>
                  <a:pt x="10739974" y="7771835"/>
                </a:lnTo>
                <a:lnTo>
                  <a:pt x="0" y="77718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960284">
            <a:off x="-3537541" y="3885448"/>
            <a:ext cx="15979830" cy="11563586"/>
          </a:xfrm>
          <a:custGeom>
            <a:avLst/>
            <a:gdLst/>
            <a:ahLst/>
            <a:cxnLst/>
            <a:rect r="r" b="b" t="t" l="l"/>
            <a:pathLst>
              <a:path h="11563586" w="15979830">
                <a:moveTo>
                  <a:pt x="15979830" y="0"/>
                </a:moveTo>
                <a:lnTo>
                  <a:pt x="0" y="0"/>
                </a:lnTo>
                <a:lnTo>
                  <a:pt x="0" y="11563586"/>
                </a:lnTo>
                <a:lnTo>
                  <a:pt x="15979830" y="11563586"/>
                </a:lnTo>
                <a:lnTo>
                  <a:pt x="15979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3656383" y="2334086"/>
            <a:ext cx="2755885" cy="275588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9" id="9"/>
          <p:cNvGrpSpPr/>
          <p:nvPr/>
        </p:nvGrpSpPr>
        <p:grpSpPr>
          <a:xfrm rot="0">
            <a:off x="1845393" y="3378015"/>
            <a:ext cx="2088852" cy="208885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1" id="11"/>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Freeform 12" id="12"/>
          <p:cNvSpPr/>
          <p:nvPr/>
        </p:nvSpPr>
        <p:spPr>
          <a:xfrm flipH="false" flipV="false" rot="0">
            <a:off x="2578794" y="2126892"/>
            <a:ext cx="13130413" cy="7402270"/>
          </a:xfrm>
          <a:custGeom>
            <a:avLst/>
            <a:gdLst/>
            <a:ahLst/>
            <a:cxnLst/>
            <a:rect r="r" b="b" t="t" l="l"/>
            <a:pathLst>
              <a:path h="7402270" w="13130413">
                <a:moveTo>
                  <a:pt x="0" y="0"/>
                </a:moveTo>
                <a:lnTo>
                  <a:pt x="13130412" y="0"/>
                </a:lnTo>
                <a:lnTo>
                  <a:pt x="13130412" y="7402270"/>
                </a:lnTo>
                <a:lnTo>
                  <a:pt x="0" y="7402270"/>
                </a:lnTo>
                <a:lnTo>
                  <a:pt x="0" y="0"/>
                </a:lnTo>
                <a:close/>
              </a:path>
            </a:pathLst>
          </a:custGeom>
          <a:blipFill>
            <a:blip r:embed="rId7"/>
            <a:stretch>
              <a:fillRect l="0" t="0" r="0" b="0"/>
            </a:stretch>
          </a:blipFill>
        </p:spPr>
      </p:sp>
      <p:sp>
        <p:nvSpPr>
          <p:cNvPr name="TextBox 13" id="13"/>
          <p:cNvSpPr txBox="true"/>
          <p:nvPr/>
        </p:nvSpPr>
        <p:spPr>
          <a:xfrm rot="0">
            <a:off x="1028700" y="409251"/>
            <a:ext cx="11447526" cy="1717641"/>
          </a:xfrm>
          <a:prstGeom prst="rect">
            <a:avLst/>
          </a:prstGeom>
        </p:spPr>
        <p:txBody>
          <a:bodyPr anchor="t" rtlCol="false" tIns="0" lIns="0" bIns="0" rIns="0">
            <a:spAutoFit/>
          </a:bodyPr>
          <a:lstStyle/>
          <a:p>
            <a:pPr algn="ctr">
              <a:lnSpc>
                <a:spcPts val="4551"/>
              </a:lnSpc>
              <a:spcBef>
                <a:spcPct val="0"/>
              </a:spcBef>
            </a:pPr>
            <a:r>
              <a:rPr lang="en-US" b="true" sz="3251">
                <a:solidFill>
                  <a:srgbClr val="FFFFFF"/>
                </a:solidFill>
                <a:latin typeface="Poppins Bold"/>
                <a:ea typeface="Poppins Bold"/>
                <a:cs typeface="Poppins Bold"/>
                <a:sym typeface="Poppins Bold"/>
              </a:rPr>
              <a:t>Kết quả: </a:t>
            </a:r>
            <a:r>
              <a:rPr lang="en-US" sz="3251">
                <a:solidFill>
                  <a:srgbClr val="FFFFFF"/>
                </a:solidFill>
                <a:latin typeface="Poppins"/>
                <a:ea typeface="Poppins"/>
                <a:cs typeface="Poppins"/>
                <a:sym typeface="Poppins"/>
              </a:rPr>
              <a:t>Bot tập trung vào đúng tài liệu và trích xuất thông tin chính xác.</a:t>
            </a:r>
          </a:p>
          <a:p>
            <a:pPr algn="ctr" marL="0" indent="0" lvl="0">
              <a:lnSpc>
                <a:spcPts val="4551"/>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7076780">
            <a:off x="11120447" y="-921645"/>
            <a:ext cx="10739973" cy="7771835"/>
          </a:xfrm>
          <a:custGeom>
            <a:avLst/>
            <a:gdLst/>
            <a:ahLst/>
            <a:cxnLst/>
            <a:rect r="r" b="b" t="t" l="l"/>
            <a:pathLst>
              <a:path h="7771835" w="10739973">
                <a:moveTo>
                  <a:pt x="0" y="0"/>
                </a:moveTo>
                <a:lnTo>
                  <a:pt x="10739974" y="0"/>
                </a:lnTo>
                <a:lnTo>
                  <a:pt x="10739974" y="7771835"/>
                </a:lnTo>
                <a:lnTo>
                  <a:pt x="0" y="77718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960284">
            <a:off x="-3537541" y="3885448"/>
            <a:ext cx="15979830" cy="11563586"/>
          </a:xfrm>
          <a:custGeom>
            <a:avLst/>
            <a:gdLst/>
            <a:ahLst/>
            <a:cxnLst/>
            <a:rect r="r" b="b" t="t" l="l"/>
            <a:pathLst>
              <a:path h="11563586" w="15979830">
                <a:moveTo>
                  <a:pt x="15979830" y="0"/>
                </a:moveTo>
                <a:lnTo>
                  <a:pt x="0" y="0"/>
                </a:lnTo>
                <a:lnTo>
                  <a:pt x="0" y="11563586"/>
                </a:lnTo>
                <a:lnTo>
                  <a:pt x="15979830" y="11563586"/>
                </a:lnTo>
                <a:lnTo>
                  <a:pt x="15979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0" y="765484"/>
            <a:ext cx="18119571" cy="2444716"/>
          </a:xfrm>
          <a:prstGeom prst="rect">
            <a:avLst/>
          </a:prstGeom>
        </p:spPr>
        <p:txBody>
          <a:bodyPr anchor="t" rtlCol="false" tIns="0" lIns="0" bIns="0" rIns="0">
            <a:spAutoFit/>
          </a:bodyPr>
          <a:lstStyle/>
          <a:p>
            <a:pPr algn="l" marL="594014" indent="-297007" lvl="1">
              <a:lnSpc>
                <a:spcPts val="3851"/>
              </a:lnSpc>
              <a:buFont typeface="Arial"/>
              <a:buChar char="•"/>
            </a:pPr>
            <a:r>
              <a:rPr lang="en-US" b="true" sz="2751">
                <a:solidFill>
                  <a:srgbClr val="FFFFFF"/>
                </a:solidFill>
                <a:latin typeface="Poppins Bold"/>
                <a:ea typeface="Poppins Bold"/>
                <a:cs typeface="Poppins Bold"/>
                <a:sym typeface="Poppins Bold"/>
              </a:rPr>
              <a:t>Mô tả:</a:t>
            </a:r>
            <a:r>
              <a:rPr lang="en-US" sz="2751">
                <a:solidFill>
                  <a:srgbClr val="FFFFFF"/>
                </a:solidFill>
                <a:latin typeface="Poppins"/>
                <a:ea typeface="Poppins"/>
                <a:cs typeface="Poppins"/>
                <a:sym typeface="Poppins"/>
              </a:rPr>
              <a:t> Chatbot đã hoạt động ổn định, trả lời chính xác các câu hỏi về định nghĩa và thành phần của AI Agent dựa trên tài liệu.</a:t>
            </a:r>
          </a:p>
          <a:p>
            <a:pPr algn="l" marL="594014" indent="-297007" lvl="1">
              <a:lnSpc>
                <a:spcPts val="3851"/>
              </a:lnSpc>
              <a:buFont typeface="Arial"/>
              <a:buChar char="•"/>
            </a:pPr>
            <a:r>
              <a:rPr lang="en-US" b="true" sz="2751">
                <a:solidFill>
                  <a:srgbClr val="FFFFFF"/>
                </a:solidFill>
                <a:latin typeface="Poppins Bold"/>
                <a:ea typeface="Poppins Bold"/>
                <a:cs typeface="Poppins Bold"/>
                <a:sym typeface="Poppins Bold"/>
              </a:rPr>
              <a:t>Minh chứng: </a:t>
            </a:r>
            <a:r>
              <a:rPr lang="en-US" sz="2751">
                <a:solidFill>
                  <a:srgbClr val="FFFFFF"/>
                </a:solidFill>
                <a:latin typeface="Poppins"/>
                <a:ea typeface="Poppins"/>
                <a:cs typeface="Poppins"/>
                <a:sym typeface="Poppins"/>
              </a:rPr>
              <a:t>Câu hỏi: "AI Agent gồm những thành phần nào?"</a:t>
            </a:r>
          </a:p>
          <a:p>
            <a:pPr algn="l">
              <a:lnSpc>
                <a:spcPts val="3851"/>
              </a:lnSpc>
            </a:pPr>
            <a:r>
              <a:rPr lang="en-US" sz="2751">
                <a:solidFill>
                  <a:srgbClr val="FFFFFF"/>
                </a:solidFill>
                <a:latin typeface="Poppins"/>
                <a:ea typeface="Poppins"/>
                <a:cs typeface="Poppins"/>
                <a:sym typeface="Poppins"/>
              </a:rPr>
              <a:t>                               </a:t>
            </a:r>
            <a:r>
              <a:rPr lang="en-US" sz="2751">
                <a:solidFill>
                  <a:srgbClr val="FFFFFF"/>
                </a:solidFill>
                <a:latin typeface="Poppins"/>
                <a:ea typeface="Poppins"/>
                <a:cs typeface="Poppins"/>
                <a:sym typeface="Poppins"/>
              </a:rPr>
              <a:t>Câu trả lời của Bot: Liệt kê đúng các ý như Bộ cảm biến (Sensors), Bộ tác động  </a:t>
            </a:r>
          </a:p>
          <a:p>
            <a:pPr algn="l" marL="0" indent="0" lvl="0">
              <a:lnSpc>
                <a:spcPts val="3851"/>
              </a:lnSpc>
              <a:spcBef>
                <a:spcPct val="0"/>
              </a:spcBef>
            </a:pPr>
            <a:r>
              <a:rPr lang="en-US" sz="2751">
                <a:solidFill>
                  <a:srgbClr val="FFFFFF"/>
                </a:solidFill>
                <a:latin typeface="Poppins"/>
                <a:ea typeface="Poppins"/>
                <a:cs typeface="Poppins"/>
                <a:sym typeface="Poppins"/>
              </a:rPr>
              <a:t>                               (Actuators), Cơ sở tri thức (Knowledge Base)...</a:t>
            </a:r>
          </a:p>
        </p:txBody>
      </p:sp>
      <p:grpSp>
        <p:nvGrpSpPr>
          <p:cNvPr name="Group 7" id="7"/>
          <p:cNvGrpSpPr/>
          <p:nvPr/>
        </p:nvGrpSpPr>
        <p:grpSpPr>
          <a:xfrm rot="0">
            <a:off x="13656383" y="2334086"/>
            <a:ext cx="2755885" cy="275588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83FA">
                    <a:alpha val="100000"/>
                  </a:srgbClr>
                </a:gs>
                <a:gs pos="100000">
                  <a:srgbClr val="4FFFEA">
                    <a:alpha val="100000"/>
                  </a:srgbClr>
                </a:gs>
              </a:gsLst>
              <a:path path="circle">
                <a:fillToRect l="0" r="100000" t="0" b="100000"/>
              </a:path>
              <a:tileRect r="0" l="-100000" b="0" t="-100000"/>
            </a:gra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grpSp>
        <p:nvGrpSpPr>
          <p:cNvPr name="Group 10" id="10"/>
          <p:cNvGrpSpPr/>
          <p:nvPr/>
        </p:nvGrpSpPr>
        <p:grpSpPr>
          <a:xfrm rot="0">
            <a:off x="1845393" y="3378015"/>
            <a:ext cx="2088852" cy="208885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D26FA">
                    <a:alpha val="100000"/>
                  </a:srgbClr>
                </a:gs>
                <a:gs pos="100000">
                  <a:srgbClr val="22BFE1">
                    <a:alpha val="100000"/>
                  </a:srgbClr>
                </a:gs>
              </a:gsLst>
              <a:path path="circle">
                <a:fillToRect l="0" r="100000" t="0" b="100000"/>
              </a:path>
              <a:tileRect r="0" l="-100000" b="0" t="-100000"/>
            </a:gradFill>
          </p:spPr>
        </p:sp>
        <p:sp>
          <p:nvSpPr>
            <p:cNvPr name="TextBox 12" id="12"/>
            <p:cNvSpPr txBox="true"/>
            <p:nvPr/>
          </p:nvSpPr>
          <p:spPr>
            <a:xfrm>
              <a:off x="76200" y="9525"/>
              <a:ext cx="660400" cy="727075"/>
            </a:xfrm>
            <a:prstGeom prst="rect">
              <a:avLst/>
            </a:prstGeom>
          </p:spPr>
          <p:txBody>
            <a:bodyPr anchor="ctr" rtlCol="false" tIns="50800" lIns="50800" bIns="50800" rIns="50800"/>
            <a:lstStyle/>
            <a:p>
              <a:pPr algn="ctr">
                <a:lnSpc>
                  <a:spcPts val="3151"/>
                </a:lnSpc>
              </a:pPr>
            </a:p>
          </p:txBody>
        </p:sp>
      </p:grpSp>
      <p:sp>
        <p:nvSpPr>
          <p:cNvPr name="Freeform 13" id="13"/>
          <p:cNvSpPr/>
          <p:nvPr/>
        </p:nvSpPr>
        <p:spPr>
          <a:xfrm flipH="false" flipV="false" rot="0">
            <a:off x="3148996" y="3378015"/>
            <a:ext cx="11990007" cy="6744379"/>
          </a:xfrm>
          <a:custGeom>
            <a:avLst/>
            <a:gdLst/>
            <a:ahLst/>
            <a:cxnLst/>
            <a:rect r="r" b="b" t="t" l="l"/>
            <a:pathLst>
              <a:path h="6744379" w="11990007">
                <a:moveTo>
                  <a:pt x="0" y="0"/>
                </a:moveTo>
                <a:lnTo>
                  <a:pt x="11990008" y="0"/>
                </a:lnTo>
                <a:lnTo>
                  <a:pt x="11990008" y="6744379"/>
                </a:lnTo>
                <a:lnTo>
                  <a:pt x="0" y="6744379"/>
                </a:lnTo>
                <a:lnTo>
                  <a:pt x="0" y="0"/>
                </a:lnTo>
                <a:close/>
              </a:path>
            </a:pathLst>
          </a:custGeom>
          <a:blipFill>
            <a:blip r:embed="rId7"/>
            <a:stretch>
              <a:fillRect l="0" t="0" r="0" b="0"/>
            </a:stretch>
          </a:blipFill>
        </p:spPr>
      </p:sp>
      <p:sp>
        <p:nvSpPr>
          <p:cNvPr name="TextBox 14" id="14"/>
          <p:cNvSpPr txBox="true"/>
          <p:nvPr/>
        </p:nvSpPr>
        <p:spPr>
          <a:xfrm rot="0">
            <a:off x="-1909376" y="62539"/>
            <a:ext cx="16690326" cy="788670"/>
          </a:xfrm>
          <a:prstGeom prst="rect">
            <a:avLst/>
          </a:prstGeom>
        </p:spPr>
        <p:txBody>
          <a:bodyPr anchor="t" rtlCol="false" tIns="0" lIns="0" bIns="0" rIns="0">
            <a:spAutoFit/>
          </a:bodyPr>
          <a:lstStyle/>
          <a:p>
            <a:pPr algn="ctr">
              <a:lnSpc>
                <a:spcPts val="5400"/>
              </a:lnSpc>
            </a:pPr>
            <a:r>
              <a:rPr lang="en-US" b="true" sz="4500">
                <a:solidFill>
                  <a:srgbClr val="65FFE8"/>
                </a:solidFill>
                <a:latin typeface="Neo Tech Bold"/>
                <a:ea typeface="Neo Tech Bold"/>
                <a:cs typeface="Neo Tech Bold"/>
                <a:sym typeface="Neo Tech Bold"/>
              </a:rPr>
              <a:t>IV. KẾT QUẢ ĐẠT ĐƯỢC (RESULTS):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375916" y="0"/>
            <a:ext cx="9519916" cy="10287000"/>
          </a:xfrm>
          <a:custGeom>
            <a:avLst/>
            <a:gdLst/>
            <a:ahLst/>
            <a:cxnLst/>
            <a:rect r="r" b="b" t="t" l="l"/>
            <a:pathLst>
              <a:path h="10287000" w="9519916">
                <a:moveTo>
                  <a:pt x="0" y="0"/>
                </a:moveTo>
                <a:lnTo>
                  <a:pt x="9519916" y="0"/>
                </a:lnTo>
                <a:lnTo>
                  <a:pt x="9519916" y="10287000"/>
                </a:lnTo>
                <a:lnTo>
                  <a:pt x="0" y="10287000"/>
                </a:lnTo>
                <a:lnTo>
                  <a:pt x="0" y="0"/>
                </a:lnTo>
                <a:close/>
              </a:path>
            </a:pathLst>
          </a:custGeom>
          <a:blipFill>
            <a:blip r:embed="rId2">
              <a:alphaModFix amt="31000"/>
            </a:blip>
            <a:stretch>
              <a:fillRect l="-54613" t="0" r="0" b="-91098"/>
            </a:stretch>
          </a:blipFill>
        </p:spPr>
      </p:sp>
      <p:sp>
        <p:nvSpPr>
          <p:cNvPr name="Freeform 3" id="3"/>
          <p:cNvSpPr/>
          <p:nvPr/>
        </p:nvSpPr>
        <p:spPr>
          <a:xfrm flipH="false" flipV="false" rot="0">
            <a:off x="9144000" y="0"/>
            <a:ext cx="9621861" cy="10287000"/>
          </a:xfrm>
          <a:custGeom>
            <a:avLst/>
            <a:gdLst/>
            <a:ahLst/>
            <a:cxnLst/>
            <a:rect r="r" b="b" t="t" l="l"/>
            <a:pathLst>
              <a:path h="10287000" w="9621861">
                <a:moveTo>
                  <a:pt x="0" y="0"/>
                </a:moveTo>
                <a:lnTo>
                  <a:pt x="9621861" y="0"/>
                </a:lnTo>
                <a:lnTo>
                  <a:pt x="9621861" y="10287000"/>
                </a:lnTo>
                <a:lnTo>
                  <a:pt x="0" y="10287000"/>
                </a:lnTo>
                <a:lnTo>
                  <a:pt x="0" y="0"/>
                </a:lnTo>
                <a:close/>
              </a:path>
            </a:pathLst>
          </a:custGeom>
          <a:blipFill>
            <a:blip r:embed="rId2">
              <a:alphaModFix amt="31000"/>
            </a:blip>
            <a:stretch>
              <a:fillRect l="0" t="0" r="-52975" b="-91098"/>
            </a:stretch>
          </a:blipFill>
        </p:spPr>
      </p:sp>
      <p:sp>
        <p:nvSpPr>
          <p:cNvPr name="Freeform 4" id="4"/>
          <p:cNvSpPr/>
          <p:nvPr/>
        </p:nvSpPr>
        <p:spPr>
          <a:xfrm flipH="false" flipV="false" rot="-7076780">
            <a:off x="11120447" y="-921645"/>
            <a:ext cx="10739973" cy="7771835"/>
          </a:xfrm>
          <a:custGeom>
            <a:avLst/>
            <a:gdLst/>
            <a:ahLst/>
            <a:cxnLst/>
            <a:rect r="r" b="b" t="t" l="l"/>
            <a:pathLst>
              <a:path h="7771835" w="10739973">
                <a:moveTo>
                  <a:pt x="0" y="0"/>
                </a:moveTo>
                <a:lnTo>
                  <a:pt x="10739974" y="0"/>
                </a:lnTo>
                <a:lnTo>
                  <a:pt x="10739974" y="7771835"/>
                </a:lnTo>
                <a:lnTo>
                  <a:pt x="0" y="77718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960284">
            <a:off x="-3537541" y="3885448"/>
            <a:ext cx="15979830" cy="11563586"/>
          </a:xfrm>
          <a:custGeom>
            <a:avLst/>
            <a:gdLst/>
            <a:ahLst/>
            <a:cxnLst/>
            <a:rect r="r" b="b" t="t" l="l"/>
            <a:pathLst>
              <a:path h="11563586" w="15979830">
                <a:moveTo>
                  <a:pt x="15979830" y="0"/>
                </a:moveTo>
                <a:lnTo>
                  <a:pt x="0" y="0"/>
                </a:lnTo>
                <a:lnTo>
                  <a:pt x="0" y="11563586"/>
                </a:lnTo>
                <a:lnTo>
                  <a:pt x="15979830" y="11563586"/>
                </a:lnTo>
                <a:lnTo>
                  <a:pt x="15979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134241" y="2813067"/>
            <a:ext cx="12019518" cy="4575141"/>
          </a:xfrm>
          <a:prstGeom prst="rect">
            <a:avLst/>
          </a:prstGeom>
        </p:spPr>
        <p:txBody>
          <a:bodyPr anchor="t" rtlCol="false" tIns="0" lIns="0" bIns="0" rIns="0">
            <a:spAutoFit/>
          </a:bodyPr>
          <a:lstStyle/>
          <a:p>
            <a:pPr algn="l" marL="701961" indent="-350981" lvl="1">
              <a:lnSpc>
                <a:spcPts val="4551"/>
              </a:lnSpc>
              <a:buFont typeface="Arial"/>
              <a:buChar char="•"/>
            </a:pPr>
            <a:r>
              <a:rPr lang="en-US" sz="3251">
                <a:solidFill>
                  <a:srgbClr val="FFFFFF"/>
                </a:solidFill>
                <a:latin typeface="Poppins"/>
                <a:ea typeface="Poppins"/>
                <a:cs typeface="Poppins"/>
                <a:sym typeface="Poppins"/>
              </a:rPr>
              <a:t>Đã nắm được quy trình tạo Chatbot RAG trên Dify.</a:t>
            </a:r>
          </a:p>
          <a:p>
            <a:pPr algn="l">
              <a:lnSpc>
                <a:spcPts val="4551"/>
              </a:lnSpc>
            </a:pPr>
          </a:p>
          <a:p>
            <a:pPr algn="l" marL="701961" indent="-350981" lvl="1">
              <a:lnSpc>
                <a:spcPts val="4551"/>
              </a:lnSpc>
              <a:buFont typeface="Arial"/>
              <a:buChar char="•"/>
            </a:pPr>
            <a:r>
              <a:rPr lang="en-US" sz="3251">
                <a:solidFill>
                  <a:srgbClr val="FFFFFF"/>
                </a:solidFill>
                <a:latin typeface="Poppins"/>
                <a:ea typeface="Poppins"/>
                <a:cs typeface="Poppins"/>
                <a:sym typeface="Poppins"/>
              </a:rPr>
              <a:t>Hiểu được tầm quan trọng của việc quản lý ngữ cảnh (Context) và chọn mô hình (Model) phù hợp.</a:t>
            </a:r>
          </a:p>
          <a:p>
            <a:pPr algn="l">
              <a:lnSpc>
                <a:spcPts val="4551"/>
              </a:lnSpc>
            </a:pPr>
          </a:p>
          <a:p>
            <a:pPr algn="l" marL="701961" indent="-350981" lvl="1">
              <a:lnSpc>
                <a:spcPts val="4551"/>
              </a:lnSpc>
              <a:buFont typeface="Arial"/>
              <a:buChar char="•"/>
            </a:pPr>
            <a:r>
              <a:rPr lang="en-US" sz="3251">
                <a:solidFill>
                  <a:srgbClr val="FFFFFF"/>
                </a:solidFill>
                <a:latin typeface="Poppins"/>
                <a:ea typeface="Poppins"/>
                <a:cs typeface="Poppins"/>
                <a:sym typeface="Poppins"/>
              </a:rPr>
              <a:t>Hệ</a:t>
            </a:r>
            <a:r>
              <a:rPr lang="en-US" sz="3251">
                <a:solidFill>
                  <a:srgbClr val="FFFFFF"/>
                </a:solidFill>
                <a:latin typeface="Poppins"/>
                <a:ea typeface="Poppins"/>
                <a:cs typeface="Poppins"/>
                <a:sym typeface="Poppins"/>
              </a:rPr>
              <a:t> thống có thể mở rộng để nộp thêm nhiều tài liệu môn học khác giúp ôn tập hiệu quả.</a:t>
            </a:r>
          </a:p>
          <a:p>
            <a:pPr algn="l" marL="0" indent="0" lvl="0">
              <a:lnSpc>
                <a:spcPts val="4551"/>
              </a:lnSpc>
              <a:spcBef>
                <a:spcPct val="0"/>
              </a:spcBef>
            </a:pPr>
          </a:p>
        </p:txBody>
      </p:sp>
      <p:sp>
        <p:nvSpPr>
          <p:cNvPr name="TextBox 7" id="7"/>
          <p:cNvSpPr txBox="true"/>
          <p:nvPr/>
        </p:nvSpPr>
        <p:spPr>
          <a:xfrm rot="0">
            <a:off x="798837" y="1417016"/>
            <a:ext cx="16690326" cy="874395"/>
          </a:xfrm>
          <a:prstGeom prst="rect">
            <a:avLst/>
          </a:prstGeom>
        </p:spPr>
        <p:txBody>
          <a:bodyPr anchor="t" rtlCol="false" tIns="0" lIns="0" bIns="0" rIns="0">
            <a:spAutoFit/>
          </a:bodyPr>
          <a:lstStyle/>
          <a:p>
            <a:pPr algn="ctr">
              <a:lnSpc>
                <a:spcPts val="6000"/>
              </a:lnSpc>
            </a:pPr>
            <a:r>
              <a:rPr lang="en-US" b="true" sz="5000">
                <a:solidFill>
                  <a:srgbClr val="65FFE8"/>
                </a:solidFill>
                <a:latin typeface="Neo Tech Bold"/>
                <a:ea typeface="Neo Tech Bold"/>
                <a:cs typeface="Neo Tech Bold"/>
                <a:sym typeface="Neo Tech Bold"/>
              </a:rPr>
              <a:t>V. KẾT LUẬN (CONCLUSION):</a:t>
            </a:r>
          </a:p>
        </p:txBody>
      </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a:gsLst>
            <a:gs pos="0">
              <a:srgbClr val="0F1837">
                <a:alpha val="100000"/>
              </a:srgbClr>
            </a:gs>
            <a:gs pos="100000">
              <a:srgbClr val="1A486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6627197" y="4588526"/>
            <a:ext cx="5033606" cy="1084548"/>
          </a:xfrm>
          <a:prstGeom prst="rect">
            <a:avLst/>
          </a:prstGeom>
        </p:spPr>
        <p:txBody>
          <a:bodyPr anchor="t" rtlCol="false" tIns="0" lIns="0" bIns="0" rIns="0">
            <a:spAutoFit/>
          </a:bodyPr>
          <a:lstStyle/>
          <a:p>
            <a:pPr algn="ctr">
              <a:lnSpc>
                <a:spcPts val="8471"/>
              </a:lnSpc>
              <a:spcBef>
                <a:spcPct val="0"/>
              </a:spcBef>
            </a:pPr>
            <a:r>
              <a:rPr lang="en-US" sz="6051">
                <a:gradFill>
                  <a:gsLst>
                    <a:gs pos="0">
                      <a:srgbClr val="0CC0DF">
                        <a:alpha val="100000"/>
                      </a:srgbClr>
                    </a:gs>
                    <a:gs pos="100000">
                      <a:srgbClr val="FFDE59">
                        <a:alpha val="100000"/>
                      </a:srgbClr>
                    </a:gs>
                  </a:gsLst>
                  <a:lin ang="0"/>
                </a:gradFill>
                <a:latin typeface="Poppins"/>
                <a:ea typeface="Poppins"/>
                <a:cs typeface="Poppins"/>
                <a:sym typeface="Poppins"/>
              </a:rPr>
              <a:t>Thank you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DAHAVnF_kGU</dc:identifier>
  <dcterms:modified xsi:type="dcterms:W3CDTF">2011-08-01T06:04:30Z</dcterms:modified>
  <cp:revision>1</cp:revision>
  <dc:title>Blue Modern Gradient IT Solutions &amp; Technology Presentation</dc:title>
</cp:coreProperties>
</file>