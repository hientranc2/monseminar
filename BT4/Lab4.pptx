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Bebas Neue Cyrillic" charset="1" panose="02000506000000020004"/>
      <p:regular r:id="rId19"/>
    </p:embeddedFont>
    <p:embeddedFont>
      <p:font typeface="HK Grotesk" charset="1" panose="00000500000000000000"/>
      <p:regular r:id="rId20"/>
    </p:embeddedFont>
    <p:embeddedFont>
      <p:font typeface="Open Sans" charset="1" panose="020B0606030504020204"/>
      <p:regular r:id="rId21"/>
    </p:embeddedFont>
    <p:embeddedFont>
      <p:font typeface="Source Sans Pro Bold" charset="1" panose="020B0703030403020204"/>
      <p:regular r:id="rId22"/>
    </p:embeddedFont>
    <p:embeddedFont>
      <p:font typeface="Source Sans Pro" charset="1" panose="020B0503030403020204"/>
      <p:regular r:id="rId23"/>
    </p:embeddedFont>
    <p:embeddedFont>
      <p:font typeface="Helvetica World" charset="1" panose="020B05000400000200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563756" y="0"/>
            <a:ext cx="5724244" cy="6734405"/>
          </a:xfrm>
          <a:custGeom>
            <a:avLst/>
            <a:gdLst/>
            <a:ahLst/>
            <a:cxnLst/>
            <a:rect r="r" b="b" t="t" l="l"/>
            <a:pathLst>
              <a:path h="6734405" w="5724244">
                <a:moveTo>
                  <a:pt x="5724244" y="0"/>
                </a:moveTo>
                <a:lnTo>
                  <a:pt x="0" y="0"/>
                </a:lnTo>
                <a:lnTo>
                  <a:pt x="0" y="6734405"/>
                </a:lnTo>
                <a:lnTo>
                  <a:pt x="5724244" y="6734405"/>
                </a:lnTo>
                <a:lnTo>
                  <a:pt x="57242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1642" y="3344389"/>
            <a:ext cx="20723742" cy="421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67849" indent="-883925" lvl="1">
              <a:lnSpc>
                <a:spcPts val="8188"/>
              </a:lnSpc>
              <a:spcBef>
                <a:spcPct val="0"/>
              </a:spcBef>
              <a:buFont typeface="Arial"/>
              <a:buChar char="•"/>
            </a:pPr>
            <a:r>
              <a:rPr lang="en-US" sz="8188" strike="noStrike" u="none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Báo cáo Seminar GenAI</a:t>
            </a:r>
          </a:p>
          <a:p>
            <a:pPr algn="l" marL="1767849" indent="-883925" lvl="1">
              <a:lnSpc>
                <a:spcPts val="8188"/>
              </a:lnSpc>
              <a:spcBef>
                <a:spcPct val="0"/>
              </a:spcBef>
              <a:buFont typeface="Arial"/>
              <a:buChar char="•"/>
            </a:pPr>
            <a:r>
              <a:rPr lang="en-US" sz="8188" strike="noStrike" u="none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Giảng viên: TS. Đỗ Như Tài</a:t>
            </a:r>
          </a:p>
          <a:p>
            <a:pPr algn="l" marL="1767849" indent="-883925" lvl="1">
              <a:lnSpc>
                <a:spcPts val="8188"/>
              </a:lnSpc>
              <a:spcBef>
                <a:spcPct val="0"/>
              </a:spcBef>
              <a:buFont typeface="Arial"/>
              <a:buChar char="•"/>
            </a:pPr>
            <a:r>
              <a:rPr lang="en-US" sz="8188" strike="noStrike" u="none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Sinh viên: Vũ, Hiễn, Kiệt, Khanh</a:t>
            </a:r>
          </a:p>
          <a:p>
            <a:pPr algn="l" marL="1767849" indent="-883925" lvl="1">
              <a:lnSpc>
                <a:spcPts val="8188"/>
              </a:lnSpc>
              <a:spcBef>
                <a:spcPct val="0"/>
              </a:spcBef>
              <a:buFont typeface="Arial"/>
              <a:buChar char="•"/>
            </a:pPr>
            <a:r>
              <a:rPr lang="en-US" sz="8188" strike="noStrike" u="none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Đơn vị: Khoa CNTT – Đại học Sài Gòn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-1650481" y="6205608"/>
            <a:ext cx="5724244" cy="6734405"/>
          </a:xfrm>
          <a:custGeom>
            <a:avLst/>
            <a:gdLst/>
            <a:ahLst/>
            <a:cxnLst/>
            <a:rect r="r" b="b" t="t" l="l"/>
            <a:pathLst>
              <a:path h="6734405" w="5724244">
                <a:moveTo>
                  <a:pt x="0" y="6734405"/>
                </a:moveTo>
                <a:lnTo>
                  <a:pt x="5724245" y="6734405"/>
                </a:lnTo>
                <a:lnTo>
                  <a:pt x="5724245" y="0"/>
                </a:lnTo>
                <a:lnTo>
                  <a:pt x="0" y="0"/>
                </a:lnTo>
                <a:lnTo>
                  <a:pt x="0" y="67344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907281" y="8298325"/>
            <a:ext cx="6074168" cy="959975"/>
            <a:chOff x="0" y="0"/>
            <a:chExt cx="1599781" cy="2528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9781" cy="252833"/>
            </a:xfrm>
            <a:custGeom>
              <a:avLst/>
              <a:gdLst/>
              <a:ahLst/>
              <a:cxnLst/>
              <a:rect r="r" b="b" t="t" l="l"/>
              <a:pathLst>
                <a:path h="252833" w="1599781">
                  <a:moveTo>
                    <a:pt x="25491" y="0"/>
                  </a:moveTo>
                  <a:lnTo>
                    <a:pt x="1574290" y="0"/>
                  </a:lnTo>
                  <a:cubicBezTo>
                    <a:pt x="1588368" y="0"/>
                    <a:pt x="1599781" y="11413"/>
                    <a:pt x="1599781" y="25491"/>
                  </a:cubicBezTo>
                  <a:lnTo>
                    <a:pt x="1599781" y="227342"/>
                  </a:lnTo>
                  <a:cubicBezTo>
                    <a:pt x="1599781" y="241420"/>
                    <a:pt x="1588368" y="252833"/>
                    <a:pt x="1574290" y="252833"/>
                  </a:cubicBezTo>
                  <a:lnTo>
                    <a:pt x="25491" y="252833"/>
                  </a:lnTo>
                  <a:cubicBezTo>
                    <a:pt x="18731" y="252833"/>
                    <a:pt x="12247" y="250147"/>
                    <a:pt x="7466" y="245367"/>
                  </a:cubicBezTo>
                  <a:cubicBezTo>
                    <a:pt x="2686" y="240586"/>
                    <a:pt x="0" y="234102"/>
                    <a:pt x="0" y="227342"/>
                  </a:cubicBezTo>
                  <a:lnTo>
                    <a:pt x="0" y="25491"/>
                  </a:lnTo>
                  <a:cubicBezTo>
                    <a:pt x="0" y="11413"/>
                    <a:pt x="11413" y="0"/>
                    <a:pt x="25491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9781" cy="290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5462191" y="8768788"/>
            <a:ext cx="1866702" cy="0"/>
          </a:xfrm>
          <a:prstGeom prst="line">
            <a:avLst/>
          </a:prstGeom>
          <a:ln cap="flat" w="19050">
            <a:solidFill>
              <a:srgbClr val="E8E8E8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1028700"/>
            <a:ext cx="731870" cy="908643"/>
          </a:xfrm>
          <a:custGeom>
            <a:avLst/>
            <a:gdLst/>
            <a:ahLst/>
            <a:cxnLst/>
            <a:rect r="r" b="b" t="t" l="l"/>
            <a:pathLst>
              <a:path h="908643" w="731870">
                <a:moveTo>
                  <a:pt x="0" y="0"/>
                </a:moveTo>
                <a:lnTo>
                  <a:pt x="731870" y="0"/>
                </a:lnTo>
                <a:lnTo>
                  <a:pt x="731870" y="908643"/>
                </a:lnTo>
                <a:lnTo>
                  <a:pt x="0" y="90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93656" y="8540188"/>
            <a:ext cx="32685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01 January 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03289" y="1019175"/>
            <a:ext cx="326853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FAUGET COMPANY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123849" y="4584716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0" y="0"/>
                </a:moveTo>
                <a:lnTo>
                  <a:pt x="6328302" y="0"/>
                </a:lnTo>
                <a:lnTo>
                  <a:pt x="6328302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42054" y="4584716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65875" y="2144773"/>
            <a:ext cx="11467040" cy="114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2"/>
              </a:lnSpc>
            </a:pPr>
            <a:r>
              <a:rPr lang="en-US" sz="8482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 Lời mở đầu &amp; Mục tiêu đồ án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204635"/>
            <a:ext cx="5042850" cy="105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2743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Tìm hiểu về tác động của Generative AI (GenAI) trong lập trình hiện đại.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42429" y="5204635"/>
            <a:ext cx="2501571" cy="139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273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Nghiên cứu các công cụ hỗ trợ: OpenAI API, GitHub Copilot.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68373" y="5204635"/>
            <a:ext cx="2470126" cy="2079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273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Thực hành ứng dụng AI vào việc viết mã, giải thích thuật toán và sửa lỗi (Refactoring).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94317" y="5195411"/>
            <a:ext cx="2761209" cy="1736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273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Nâng cao hiệu suất lập trình thông qua kỹ thuật Prompt Engineering.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16486" y="4202274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42429" y="4202274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68373" y="4202274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94317" y="4202274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04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-3011817" y="0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275999" y="1032399"/>
            <a:ext cx="3983301" cy="959975"/>
            <a:chOff x="0" y="0"/>
            <a:chExt cx="1049100" cy="2528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9100" cy="252833"/>
            </a:xfrm>
            <a:custGeom>
              <a:avLst/>
              <a:gdLst/>
              <a:ahLst/>
              <a:cxnLst/>
              <a:rect r="r" b="b" t="t" l="l"/>
              <a:pathLst>
                <a:path h="252833" w="1049100">
                  <a:moveTo>
                    <a:pt x="38872" y="0"/>
                  </a:moveTo>
                  <a:lnTo>
                    <a:pt x="1010228" y="0"/>
                  </a:lnTo>
                  <a:cubicBezTo>
                    <a:pt x="1031696" y="0"/>
                    <a:pt x="1049100" y="17404"/>
                    <a:pt x="1049100" y="38872"/>
                  </a:cubicBezTo>
                  <a:lnTo>
                    <a:pt x="1049100" y="213961"/>
                  </a:lnTo>
                  <a:cubicBezTo>
                    <a:pt x="1049100" y="235429"/>
                    <a:pt x="1031696" y="252833"/>
                    <a:pt x="1010228" y="252833"/>
                  </a:cubicBezTo>
                  <a:lnTo>
                    <a:pt x="38872" y="252833"/>
                  </a:lnTo>
                  <a:cubicBezTo>
                    <a:pt x="28562" y="252833"/>
                    <a:pt x="18675" y="248737"/>
                    <a:pt x="11385" y="241448"/>
                  </a:cubicBezTo>
                  <a:cubicBezTo>
                    <a:pt x="4095" y="234158"/>
                    <a:pt x="0" y="224270"/>
                    <a:pt x="0" y="213961"/>
                  </a:cubicBezTo>
                  <a:lnTo>
                    <a:pt x="0" y="38872"/>
                  </a:lnTo>
                  <a:cubicBezTo>
                    <a:pt x="0" y="17404"/>
                    <a:pt x="17404" y="0"/>
                    <a:pt x="38872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49100" cy="290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562375" y="1274261"/>
            <a:ext cx="213493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Next Slide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5807825" y="1502861"/>
            <a:ext cx="1010516" cy="0"/>
          </a:xfrm>
          <a:prstGeom prst="line">
            <a:avLst/>
          </a:prstGeom>
          <a:ln cap="flat" w="19050">
            <a:solidFill>
              <a:srgbClr val="E8E8E8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788561">
            <a:off x="6835797" y="-1820950"/>
            <a:ext cx="12687883" cy="12687883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95377" y="-95377"/>
              <a:ext cx="6540754" cy="6540754"/>
            </a:xfrm>
            <a:custGeom>
              <a:avLst/>
              <a:gdLst/>
              <a:ahLst/>
              <a:cxnLst/>
              <a:rect r="r" b="b" t="t" l="l"/>
              <a:pathLst>
                <a:path h="6540754" w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941332" y="1028700"/>
            <a:ext cx="5346668" cy="9258300"/>
          </a:xfrm>
          <a:custGeom>
            <a:avLst/>
            <a:gdLst/>
            <a:ahLst/>
            <a:cxnLst/>
            <a:rect r="r" b="b" t="t" l="l"/>
            <a:pathLst>
              <a:path h="9258300" w="5346668">
                <a:moveTo>
                  <a:pt x="0" y="0"/>
                </a:moveTo>
                <a:lnTo>
                  <a:pt x="5346668" y="0"/>
                </a:lnTo>
                <a:lnTo>
                  <a:pt x="534666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71367" y="2235325"/>
            <a:ext cx="10194912" cy="260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Tổng quan về Generative AI (GenAI)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0160" y="5143500"/>
            <a:ext cx="11025180" cy="275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680" strike="noStrike" u="none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Khái niệm: Một dạng AI có khả năng tạo ra nội dung mới (văn bản, hình ảnh, mã nguồn) dựa trên dữ liệu đã được huấn luyện.</a:t>
            </a:r>
            <a:r>
              <a:rPr lang="en-US" sz="3680" strike="noStrike" u="none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. Ứng dụng trong lập trình gồm phân tích yêu cầu, gợi ý mã, kiểm thử và hỗ trợ lập trình bằng ngôn ngữ tự nhiên.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67890" y="1474913"/>
            <a:ext cx="1349968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01</a:t>
            </a:r>
          </a:p>
        </p:txBody>
      </p:sp>
      <p:sp>
        <p:nvSpPr>
          <p:cNvPr name="AutoShape 8" id="8"/>
          <p:cNvSpPr/>
          <p:nvPr/>
        </p:nvSpPr>
        <p:spPr>
          <a:xfrm>
            <a:off x="1871367" y="2035300"/>
            <a:ext cx="6696523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true" flipV="true" rot="0">
            <a:off x="-3635828" y="-156278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540207" cy="7694361"/>
          </a:xfrm>
          <a:custGeom>
            <a:avLst/>
            <a:gdLst/>
            <a:ahLst/>
            <a:cxnLst/>
            <a:rect r="r" b="b" t="t" l="l"/>
            <a:pathLst>
              <a:path h="7694361" w="6540207">
                <a:moveTo>
                  <a:pt x="0" y="0"/>
                </a:moveTo>
                <a:lnTo>
                  <a:pt x="6540207" y="0"/>
                </a:lnTo>
                <a:lnTo>
                  <a:pt x="6540207" y="7694361"/>
                </a:lnTo>
                <a:lnTo>
                  <a:pt x="0" y="7694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04814" y="1227026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02</a:t>
            </a:r>
          </a:p>
        </p:txBody>
      </p:sp>
      <p:sp>
        <p:nvSpPr>
          <p:cNvPr name="AutoShape 4" id="4"/>
          <p:cNvSpPr/>
          <p:nvPr/>
        </p:nvSpPr>
        <p:spPr>
          <a:xfrm>
            <a:off x="6812493" y="1787413"/>
            <a:ext cx="2592321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6812493" y="5274867"/>
            <a:ext cx="7428605" cy="1863129"/>
            <a:chOff x="0" y="0"/>
            <a:chExt cx="1956505" cy="4907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6505" cy="490701"/>
            </a:xfrm>
            <a:custGeom>
              <a:avLst/>
              <a:gdLst/>
              <a:ahLst/>
              <a:cxnLst/>
              <a:rect r="r" b="b" t="t" l="l"/>
              <a:pathLst>
                <a:path h="490701" w="1956505">
                  <a:moveTo>
                    <a:pt x="20844" y="0"/>
                  </a:moveTo>
                  <a:lnTo>
                    <a:pt x="1935662" y="0"/>
                  </a:lnTo>
                  <a:cubicBezTo>
                    <a:pt x="1947173" y="0"/>
                    <a:pt x="1956505" y="9332"/>
                    <a:pt x="1956505" y="20844"/>
                  </a:cubicBezTo>
                  <a:lnTo>
                    <a:pt x="1956505" y="469857"/>
                  </a:lnTo>
                  <a:cubicBezTo>
                    <a:pt x="1956505" y="475385"/>
                    <a:pt x="1954309" y="480687"/>
                    <a:pt x="1950400" y="484596"/>
                  </a:cubicBezTo>
                  <a:cubicBezTo>
                    <a:pt x="1946491" y="488505"/>
                    <a:pt x="1941190" y="490701"/>
                    <a:pt x="1935662" y="490701"/>
                  </a:cubicBezTo>
                  <a:lnTo>
                    <a:pt x="20844" y="490701"/>
                  </a:lnTo>
                  <a:cubicBezTo>
                    <a:pt x="15315" y="490701"/>
                    <a:pt x="10014" y="488505"/>
                    <a:pt x="6105" y="484596"/>
                  </a:cubicBezTo>
                  <a:cubicBezTo>
                    <a:pt x="2196" y="480687"/>
                    <a:pt x="0" y="475385"/>
                    <a:pt x="0" y="469857"/>
                  </a:cubicBezTo>
                  <a:lnTo>
                    <a:pt x="0" y="20844"/>
                  </a:lnTo>
                  <a:cubicBezTo>
                    <a:pt x="0" y="15315"/>
                    <a:pt x="2196" y="10014"/>
                    <a:pt x="6105" y="6105"/>
                  </a:cubicBezTo>
                  <a:cubicBezTo>
                    <a:pt x="10014" y="2196"/>
                    <a:pt x="15315" y="0"/>
                    <a:pt x="20844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56505" cy="528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228141" y="0"/>
            <a:ext cx="3059859" cy="10287000"/>
            <a:chOff x="0" y="0"/>
            <a:chExt cx="474052" cy="1593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4052" cy="1593725"/>
            </a:xfrm>
            <a:custGeom>
              <a:avLst/>
              <a:gdLst/>
              <a:ahLst/>
              <a:cxnLst/>
              <a:rect r="r" b="b" t="t" l="l"/>
              <a:pathLst>
                <a:path h="1593725" w="474052">
                  <a:moveTo>
                    <a:pt x="0" y="0"/>
                  </a:moveTo>
                  <a:lnTo>
                    <a:pt x="474052" y="0"/>
                  </a:lnTo>
                  <a:lnTo>
                    <a:pt x="474052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348258" t="0" r="-57927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858837" y="2411018"/>
            <a:ext cx="8603835" cy="260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Làm việc với Open AI API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98869" y="5592069"/>
            <a:ext cx="6847333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Khái niệm API: Giao diện lập trình ứng dụng cho phép tích hợp các mô hình GPT trực tiếp vào phần mềm.</a:t>
            </a:r>
          </a:p>
        </p:txBody>
      </p:sp>
      <p:sp>
        <p:nvSpPr>
          <p:cNvPr name="Freeform 12" id="12"/>
          <p:cNvSpPr/>
          <p:nvPr/>
        </p:nvSpPr>
        <p:spPr>
          <a:xfrm flipH="false" flipV="true" rot="0">
            <a:off x="-1650481" y="6205608"/>
            <a:ext cx="5724244" cy="6734405"/>
          </a:xfrm>
          <a:custGeom>
            <a:avLst/>
            <a:gdLst/>
            <a:ahLst/>
            <a:cxnLst/>
            <a:rect r="r" b="b" t="t" l="l"/>
            <a:pathLst>
              <a:path h="6734405" w="5724244">
                <a:moveTo>
                  <a:pt x="0" y="6734405"/>
                </a:moveTo>
                <a:lnTo>
                  <a:pt x="5724245" y="6734405"/>
                </a:lnTo>
                <a:lnTo>
                  <a:pt x="5724245" y="0"/>
                </a:lnTo>
                <a:lnTo>
                  <a:pt x="0" y="0"/>
                </a:lnTo>
                <a:lnTo>
                  <a:pt x="0" y="67344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812493" y="7395171"/>
            <a:ext cx="7428605" cy="2891829"/>
            <a:chOff x="0" y="0"/>
            <a:chExt cx="1956505" cy="7616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6505" cy="761634"/>
            </a:xfrm>
            <a:custGeom>
              <a:avLst/>
              <a:gdLst/>
              <a:ahLst/>
              <a:cxnLst/>
              <a:rect r="r" b="b" t="t" l="l"/>
              <a:pathLst>
                <a:path h="761634" w="1956505">
                  <a:moveTo>
                    <a:pt x="20844" y="0"/>
                  </a:moveTo>
                  <a:lnTo>
                    <a:pt x="1935662" y="0"/>
                  </a:lnTo>
                  <a:cubicBezTo>
                    <a:pt x="1947173" y="0"/>
                    <a:pt x="1956505" y="9332"/>
                    <a:pt x="1956505" y="20844"/>
                  </a:cubicBezTo>
                  <a:lnTo>
                    <a:pt x="1956505" y="740790"/>
                  </a:lnTo>
                  <a:cubicBezTo>
                    <a:pt x="1956505" y="746318"/>
                    <a:pt x="1954309" y="751620"/>
                    <a:pt x="1950400" y="755529"/>
                  </a:cubicBezTo>
                  <a:cubicBezTo>
                    <a:pt x="1946491" y="759438"/>
                    <a:pt x="1941190" y="761634"/>
                    <a:pt x="1935662" y="761634"/>
                  </a:cubicBezTo>
                  <a:lnTo>
                    <a:pt x="20844" y="761634"/>
                  </a:lnTo>
                  <a:cubicBezTo>
                    <a:pt x="9332" y="761634"/>
                    <a:pt x="0" y="752302"/>
                    <a:pt x="0" y="740790"/>
                  </a:cubicBezTo>
                  <a:lnTo>
                    <a:pt x="0" y="20844"/>
                  </a:lnTo>
                  <a:cubicBezTo>
                    <a:pt x="0" y="15315"/>
                    <a:pt x="2196" y="10014"/>
                    <a:pt x="6105" y="6105"/>
                  </a:cubicBezTo>
                  <a:cubicBezTo>
                    <a:pt x="10014" y="2196"/>
                    <a:pt x="15315" y="0"/>
                    <a:pt x="20844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56505" cy="799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812493" y="7528521"/>
            <a:ext cx="7428605" cy="265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9"/>
              </a:lnSpc>
            </a:pPr>
            <a:r>
              <a:rPr lang="en-US" sz="264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Thành phần cơ bản của một API Request:</a:t>
            </a:r>
          </a:p>
          <a:p>
            <a:pPr algn="l" marL="570304" indent="-285152" lvl="1">
              <a:lnSpc>
                <a:spcPts val="3169"/>
              </a:lnSpc>
              <a:buFont typeface="Arial"/>
              <a:buChar char="•"/>
            </a:pPr>
            <a:r>
              <a:rPr lang="en-US" sz="264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Endpoint: Điểm cuối kết nối (ví dụ: chat completions).</a:t>
            </a:r>
          </a:p>
          <a:p>
            <a:pPr algn="l" marL="570304" indent="-285152" lvl="1">
              <a:lnSpc>
                <a:spcPts val="3169"/>
              </a:lnSpc>
              <a:buFont typeface="Arial"/>
              <a:buChar char="•"/>
            </a:pPr>
            <a:r>
              <a:rPr lang="en-US" sz="264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API Key: Khóa bảo mật để xác thực tài khoản.</a:t>
            </a:r>
          </a:p>
          <a:p>
            <a:pPr algn="l" marL="570304" indent="-285152" lvl="1">
              <a:lnSpc>
                <a:spcPts val="3169"/>
              </a:lnSpc>
              <a:buFont typeface="Arial"/>
              <a:buChar char="•"/>
            </a:pPr>
            <a:r>
              <a:rPr lang="en-US" sz="264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Messages: Bao gồm System (định hướng), User (yêu cầu) và Assistant (phản hồi).</a:t>
            </a:r>
          </a:p>
          <a:p>
            <a:pPr algn="l">
              <a:lnSpc>
                <a:spcPts val="316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54548" y="1888481"/>
            <a:ext cx="8175962" cy="147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3"/>
              </a:lnSpc>
            </a:pPr>
            <a:r>
              <a:rPr lang="en-US" sz="56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Tự độngng hóa Docstring bằng OpenAI API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21571" y="1964681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02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711556" y="2525068"/>
            <a:ext cx="3710015" cy="107541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779358" y="3304530"/>
            <a:ext cx="14729283" cy="5754666"/>
            <a:chOff x="0" y="0"/>
            <a:chExt cx="4345326" cy="1697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45326" cy="1697700"/>
            </a:xfrm>
            <a:custGeom>
              <a:avLst/>
              <a:gdLst/>
              <a:ahLst/>
              <a:cxnLst/>
              <a:rect r="r" b="b" t="t" l="l"/>
              <a:pathLst>
                <a:path h="1697700" w="4345326">
                  <a:moveTo>
                    <a:pt x="10512" y="0"/>
                  </a:moveTo>
                  <a:lnTo>
                    <a:pt x="4334814" y="0"/>
                  </a:lnTo>
                  <a:cubicBezTo>
                    <a:pt x="4337602" y="0"/>
                    <a:pt x="4340275" y="1108"/>
                    <a:pt x="4342247" y="3079"/>
                  </a:cubicBezTo>
                  <a:cubicBezTo>
                    <a:pt x="4344218" y="5050"/>
                    <a:pt x="4345326" y="7724"/>
                    <a:pt x="4345326" y="10512"/>
                  </a:cubicBezTo>
                  <a:lnTo>
                    <a:pt x="4345326" y="1687187"/>
                  </a:lnTo>
                  <a:cubicBezTo>
                    <a:pt x="4345326" y="1692993"/>
                    <a:pt x="4340619" y="1697700"/>
                    <a:pt x="4334814" y="1697700"/>
                  </a:cubicBezTo>
                  <a:lnTo>
                    <a:pt x="10512" y="1697700"/>
                  </a:lnTo>
                  <a:cubicBezTo>
                    <a:pt x="7724" y="1697700"/>
                    <a:pt x="5050" y="1696592"/>
                    <a:pt x="3079" y="1694621"/>
                  </a:cubicBezTo>
                  <a:cubicBezTo>
                    <a:pt x="1108" y="1692649"/>
                    <a:pt x="0" y="1689975"/>
                    <a:pt x="0" y="1687187"/>
                  </a:cubicBezTo>
                  <a:lnTo>
                    <a:pt x="0" y="10512"/>
                  </a:lnTo>
                  <a:cubicBezTo>
                    <a:pt x="0" y="4707"/>
                    <a:pt x="4707" y="0"/>
                    <a:pt x="10512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45326" cy="1735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0"/>
            <a:ext cx="3214829" cy="3782152"/>
          </a:xfrm>
          <a:custGeom>
            <a:avLst/>
            <a:gdLst/>
            <a:ahLst/>
            <a:cxnLst/>
            <a:rect r="r" b="b" t="t" l="l"/>
            <a:pathLst>
              <a:path h="3782152" w="3214829">
                <a:moveTo>
                  <a:pt x="0" y="0"/>
                </a:moveTo>
                <a:lnTo>
                  <a:pt x="3214829" y="0"/>
                </a:lnTo>
                <a:lnTo>
                  <a:pt x="3214829" y="3782152"/>
                </a:lnTo>
                <a:lnTo>
                  <a:pt x="0" y="3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5897316" y="5194278"/>
            <a:ext cx="4546302" cy="5348590"/>
          </a:xfrm>
          <a:custGeom>
            <a:avLst/>
            <a:gdLst/>
            <a:ahLst/>
            <a:cxnLst/>
            <a:rect r="r" b="b" t="t" l="l"/>
            <a:pathLst>
              <a:path h="5348590" w="4546302">
                <a:moveTo>
                  <a:pt x="4546302" y="5348590"/>
                </a:moveTo>
                <a:lnTo>
                  <a:pt x="0" y="5348590"/>
                </a:lnTo>
                <a:lnTo>
                  <a:pt x="0" y="0"/>
                </a:lnTo>
                <a:lnTo>
                  <a:pt x="4546302" y="0"/>
                </a:lnTo>
                <a:lnTo>
                  <a:pt x="4546302" y="53485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02882" y="3986695"/>
            <a:ext cx="14259217" cy="454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2412" indent="-361206" lvl="1">
              <a:lnSpc>
                <a:spcPts val="4015"/>
              </a:lnSpc>
              <a:buFont typeface="Arial"/>
              <a:buChar char="•"/>
            </a:pPr>
            <a:r>
              <a:rPr lang="en-US" sz="334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Mục tiêu: Áp dụng model gpt-4o-mini để tự động viết chú thích cho hàm Python theo chuẩn Google Style.</a:t>
            </a:r>
          </a:p>
          <a:p>
            <a:pPr algn="just" marL="722412" indent="-361206" lvl="1">
              <a:lnSpc>
                <a:spcPts val="4015"/>
              </a:lnSpc>
              <a:buFont typeface="Arial"/>
              <a:buChar char="•"/>
            </a:pPr>
            <a:r>
              <a:rPr lang="en-US" sz="334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Quy trình thực hiện:</a:t>
            </a:r>
          </a:p>
          <a:p>
            <a:pPr algn="just" marL="1444824" indent="-481608" lvl="2">
              <a:lnSpc>
                <a:spcPts val="4015"/>
              </a:lnSpc>
              <a:buAutoNum type="alphaLcPeriod" startAt="1"/>
            </a:pPr>
            <a:r>
              <a:rPr lang="en-US" sz="334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Cài đặt thư viện `openai` và `inspect`.</a:t>
            </a:r>
          </a:p>
          <a:p>
            <a:pPr algn="just" marL="1444824" indent="-481608" lvl="2">
              <a:lnSpc>
                <a:spcPts val="4015"/>
              </a:lnSpc>
              <a:buAutoNum type="alphaLcPeriod" startAt="1"/>
            </a:pPr>
            <a:r>
              <a:rPr lang="en-US" sz="334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Sử dụng `inspect.getsource(func)` để lấy mã nguồn của hàm cần chú thích.</a:t>
            </a:r>
          </a:p>
          <a:p>
            <a:pPr algn="just" marL="1444824" indent="-481608" lvl="2">
              <a:lnSpc>
                <a:spcPts val="4015"/>
              </a:lnSpc>
              <a:buAutoNum type="alphaLcPeriod" startAt="1"/>
            </a:pPr>
            <a:r>
              <a:rPr lang="en-US" sz="334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Gửi yêu cầu đến AI để tạo Docstring cho hàm `Singleton.__call__`.</a:t>
            </a:r>
          </a:p>
          <a:p>
            <a:pPr algn="just">
              <a:lnSpc>
                <a:spcPts val="4015"/>
              </a:lnSpc>
            </a:pPr>
            <a:r>
              <a:rPr lang="en-US" sz="334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Kết quả:AI sẽ trả về đoạn mô tả chi tiết về đối số (Args), giá trị trả về (Returns) và logic của hàm.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727451"/>
            <a:ext cx="6476909" cy="167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63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GitHub Copilot: Người bạn đồng hành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69692" y="2693988"/>
            <a:ext cx="9671001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9"/>
              </a:lnSpc>
            </a:pPr>
            <a:r>
              <a:rPr lang="en-US" sz="4074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Giới thiệu: Công cụ AI Pair Programming được huấn luyện từ hàng tỷ dòng mã công khai trên GitHub.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52816" y="2282826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03</a:t>
            </a:r>
          </a:p>
        </p:txBody>
      </p:sp>
      <p:sp>
        <p:nvSpPr>
          <p:cNvPr name="AutoShape 5" id="5"/>
          <p:cNvSpPr/>
          <p:nvPr/>
        </p:nvSpPr>
        <p:spPr>
          <a:xfrm>
            <a:off x="2518134" y="2843213"/>
            <a:ext cx="2134682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390684" y="5886450"/>
            <a:ext cx="3962410" cy="2739741"/>
            <a:chOff x="0" y="0"/>
            <a:chExt cx="1168961" cy="8082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8961" cy="808258"/>
            </a:xfrm>
            <a:custGeom>
              <a:avLst/>
              <a:gdLst/>
              <a:ahLst/>
              <a:cxnLst/>
              <a:rect r="r" b="b" t="t" l="l"/>
              <a:pathLst>
                <a:path h="808258" w="1168961">
                  <a:moveTo>
                    <a:pt x="39077" y="0"/>
                  </a:moveTo>
                  <a:lnTo>
                    <a:pt x="1129885" y="0"/>
                  </a:lnTo>
                  <a:cubicBezTo>
                    <a:pt x="1140248" y="0"/>
                    <a:pt x="1150188" y="4117"/>
                    <a:pt x="1157516" y="11445"/>
                  </a:cubicBezTo>
                  <a:cubicBezTo>
                    <a:pt x="1164844" y="18774"/>
                    <a:pt x="1168961" y="28713"/>
                    <a:pt x="1168961" y="39077"/>
                  </a:cubicBezTo>
                  <a:lnTo>
                    <a:pt x="1168961" y="769182"/>
                  </a:lnTo>
                  <a:cubicBezTo>
                    <a:pt x="1168961" y="779545"/>
                    <a:pt x="1164844" y="789485"/>
                    <a:pt x="1157516" y="796813"/>
                  </a:cubicBezTo>
                  <a:cubicBezTo>
                    <a:pt x="1150188" y="804141"/>
                    <a:pt x="1140248" y="808258"/>
                    <a:pt x="1129885" y="808258"/>
                  </a:cubicBezTo>
                  <a:lnTo>
                    <a:pt x="39077" y="808258"/>
                  </a:lnTo>
                  <a:cubicBezTo>
                    <a:pt x="28713" y="808258"/>
                    <a:pt x="18774" y="804141"/>
                    <a:pt x="11445" y="796813"/>
                  </a:cubicBezTo>
                  <a:cubicBezTo>
                    <a:pt x="4117" y="789485"/>
                    <a:pt x="0" y="779545"/>
                    <a:pt x="0" y="769182"/>
                  </a:cubicBezTo>
                  <a:lnTo>
                    <a:pt x="0" y="39077"/>
                  </a:lnTo>
                  <a:cubicBezTo>
                    <a:pt x="0" y="28713"/>
                    <a:pt x="4117" y="18774"/>
                    <a:pt x="11445" y="11445"/>
                  </a:cubicBezTo>
                  <a:cubicBezTo>
                    <a:pt x="18774" y="4117"/>
                    <a:pt x="28713" y="0"/>
                    <a:pt x="3907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68961" cy="846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917800" y="6644068"/>
            <a:ext cx="2908178" cy="122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6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Hiểu ngữ cảnh của toàn bộ Project (Context-aware).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162871" y="5886450"/>
            <a:ext cx="3962410" cy="2739741"/>
            <a:chOff x="0" y="0"/>
            <a:chExt cx="1168961" cy="8082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8961" cy="808258"/>
            </a:xfrm>
            <a:custGeom>
              <a:avLst/>
              <a:gdLst/>
              <a:ahLst/>
              <a:cxnLst/>
              <a:rect r="r" b="b" t="t" l="l"/>
              <a:pathLst>
                <a:path h="808258" w="1168961">
                  <a:moveTo>
                    <a:pt x="39077" y="0"/>
                  </a:moveTo>
                  <a:lnTo>
                    <a:pt x="1129885" y="0"/>
                  </a:lnTo>
                  <a:cubicBezTo>
                    <a:pt x="1140248" y="0"/>
                    <a:pt x="1150188" y="4117"/>
                    <a:pt x="1157516" y="11445"/>
                  </a:cubicBezTo>
                  <a:cubicBezTo>
                    <a:pt x="1164844" y="18774"/>
                    <a:pt x="1168961" y="28713"/>
                    <a:pt x="1168961" y="39077"/>
                  </a:cubicBezTo>
                  <a:lnTo>
                    <a:pt x="1168961" y="769182"/>
                  </a:lnTo>
                  <a:cubicBezTo>
                    <a:pt x="1168961" y="779545"/>
                    <a:pt x="1164844" y="789485"/>
                    <a:pt x="1157516" y="796813"/>
                  </a:cubicBezTo>
                  <a:cubicBezTo>
                    <a:pt x="1150188" y="804141"/>
                    <a:pt x="1140248" y="808258"/>
                    <a:pt x="1129885" y="808258"/>
                  </a:cubicBezTo>
                  <a:lnTo>
                    <a:pt x="39077" y="808258"/>
                  </a:lnTo>
                  <a:cubicBezTo>
                    <a:pt x="28713" y="808258"/>
                    <a:pt x="18774" y="804141"/>
                    <a:pt x="11445" y="796813"/>
                  </a:cubicBezTo>
                  <a:cubicBezTo>
                    <a:pt x="4117" y="789485"/>
                    <a:pt x="0" y="779545"/>
                    <a:pt x="0" y="769182"/>
                  </a:cubicBezTo>
                  <a:lnTo>
                    <a:pt x="0" y="39077"/>
                  </a:lnTo>
                  <a:cubicBezTo>
                    <a:pt x="0" y="28713"/>
                    <a:pt x="4117" y="18774"/>
                    <a:pt x="11445" y="11445"/>
                  </a:cubicBezTo>
                  <a:cubicBezTo>
                    <a:pt x="18774" y="4117"/>
                    <a:pt x="28713" y="0"/>
                    <a:pt x="3907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68961" cy="846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695984" y="6303820"/>
            <a:ext cx="4429297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Gợi ý code theo thời gian thực (Real-time suggestions).</a:t>
            </a:r>
          </a:p>
          <a:p>
            <a:pPr algn="ctr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Hỗ trợ chuyển đổi logic từ ngôn ngữ này sang ngôn ngữ khác nhanh chóng.</a:t>
            </a:r>
          </a:p>
          <a:p>
            <a:pPr algn="ctr">
              <a:lnSpc>
                <a:spcPts val="252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1934906" y="5886450"/>
            <a:ext cx="3962410" cy="2739741"/>
            <a:chOff x="0" y="0"/>
            <a:chExt cx="1168961" cy="8082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68961" cy="808258"/>
            </a:xfrm>
            <a:custGeom>
              <a:avLst/>
              <a:gdLst/>
              <a:ahLst/>
              <a:cxnLst/>
              <a:rect r="r" b="b" t="t" l="l"/>
              <a:pathLst>
                <a:path h="808258" w="1168961">
                  <a:moveTo>
                    <a:pt x="39077" y="0"/>
                  </a:moveTo>
                  <a:lnTo>
                    <a:pt x="1129885" y="0"/>
                  </a:lnTo>
                  <a:cubicBezTo>
                    <a:pt x="1140248" y="0"/>
                    <a:pt x="1150188" y="4117"/>
                    <a:pt x="1157516" y="11445"/>
                  </a:cubicBezTo>
                  <a:cubicBezTo>
                    <a:pt x="1164844" y="18774"/>
                    <a:pt x="1168961" y="28713"/>
                    <a:pt x="1168961" y="39077"/>
                  </a:cubicBezTo>
                  <a:lnTo>
                    <a:pt x="1168961" y="769182"/>
                  </a:lnTo>
                  <a:cubicBezTo>
                    <a:pt x="1168961" y="779545"/>
                    <a:pt x="1164844" y="789485"/>
                    <a:pt x="1157516" y="796813"/>
                  </a:cubicBezTo>
                  <a:cubicBezTo>
                    <a:pt x="1150188" y="804141"/>
                    <a:pt x="1140248" y="808258"/>
                    <a:pt x="1129885" y="808258"/>
                  </a:cubicBezTo>
                  <a:lnTo>
                    <a:pt x="39077" y="808258"/>
                  </a:lnTo>
                  <a:cubicBezTo>
                    <a:pt x="28713" y="808258"/>
                    <a:pt x="18774" y="804141"/>
                    <a:pt x="11445" y="796813"/>
                  </a:cubicBezTo>
                  <a:cubicBezTo>
                    <a:pt x="4117" y="789485"/>
                    <a:pt x="0" y="779545"/>
                    <a:pt x="0" y="769182"/>
                  </a:cubicBezTo>
                  <a:lnTo>
                    <a:pt x="0" y="39077"/>
                  </a:lnTo>
                  <a:cubicBezTo>
                    <a:pt x="0" y="28713"/>
                    <a:pt x="4117" y="18774"/>
                    <a:pt x="11445" y="11445"/>
                  </a:cubicBezTo>
                  <a:cubicBezTo>
                    <a:pt x="18774" y="4117"/>
                    <a:pt x="28713" y="0"/>
                    <a:pt x="3907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68961" cy="846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462022" y="6031816"/>
            <a:ext cx="2908178" cy="2449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6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Tích hợp sâu trong IDE giúp lập trình viên không cần chuyển đổi giữa trình duyệt và trình soạn thảo.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0" y="0"/>
            <a:ext cx="3214829" cy="3782152"/>
          </a:xfrm>
          <a:custGeom>
            <a:avLst/>
            <a:gdLst/>
            <a:ahLst/>
            <a:cxnLst/>
            <a:rect r="r" b="b" t="t" l="l"/>
            <a:pathLst>
              <a:path h="3782152" w="3214829">
                <a:moveTo>
                  <a:pt x="0" y="0"/>
                </a:moveTo>
                <a:lnTo>
                  <a:pt x="3214829" y="0"/>
                </a:lnTo>
                <a:lnTo>
                  <a:pt x="3214829" y="3782152"/>
                </a:lnTo>
                <a:lnTo>
                  <a:pt x="0" y="3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true" rot="0">
            <a:off x="15897316" y="5194278"/>
            <a:ext cx="4546302" cy="5348590"/>
          </a:xfrm>
          <a:custGeom>
            <a:avLst/>
            <a:gdLst/>
            <a:ahLst/>
            <a:cxnLst/>
            <a:rect r="r" b="b" t="t" l="l"/>
            <a:pathLst>
              <a:path h="5348590" w="4546302">
                <a:moveTo>
                  <a:pt x="4546302" y="5348590"/>
                </a:moveTo>
                <a:lnTo>
                  <a:pt x="0" y="5348590"/>
                </a:lnTo>
                <a:lnTo>
                  <a:pt x="0" y="0"/>
                </a:lnTo>
                <a:lnTo>
                  <a:pt x="4546302" y="0"/>
                </a:lnTo>
                <a:lnTo>
                  <a:pt x="4546302" y="53485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431733"/>
            <a:ext cx="6476909" cy="248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99"/>
              </a:lnSpc>
            </a:pPr>
          </a:p>
          <a:p>
            <a:pPr algn="just">
              <a:lnSpc>
                <a:spcPts val="6399"/>
              </a:lnSpc>
            </a:pPr>
            <a:r>
              <a:rPr lang="en-US" sz="63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Phân tích lỗi Singleton Pattern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69692" y="2693988"/>
            <a:ext cx="9671001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9"/>
              </a:lnSpc>
            </a:pPr>
            <a:r>
              <a:rPr lang="en-US" sz="4074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Giới thiệu: Công cụ AI Pair Programming được huấn luyện từ hàng tỷ dòng mã công khai trên GitHub.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52816" y="1508602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03</a:t>
            </a:r>
          </a:p>
        </p:txBody>
      </p:sp>
      <p:sp>
        <p:nvSpPr>
          <p:cNvPr name="AutoShape 5" id="5"/>
          <p:cNvSpPr/>
          <p:nvPr/>
        </p:nvSpPr>
        <p:spPr>
          <a:xfrm>
            <a:off x="2518134" y="2088039"/>
            <a:ext cx="2134682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390684" y="5886450"/>
            <a:ext cx="3962410" cy="2739741"/>
            <a:chOff x="0" y="0"/>
            <a:chExt cx="1168961" cy="8082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8961" cy="808258"/>
            </a:xfrm>
            <a:custGeom>
              <a:avLst/>
              <a:gdLst/>
              <a:ahLst/>
              <a:cxnLst/>
              <a:rect r="r" b="b" t="t" l="l"/>
              <a:pathLst>
                <a:path h="808258" w="1168961">
                  <a:moveTo>
                    <a:pt x="39077" y="0"/>
                  </a:moveTo>
                  <a:lnTo>
                    <a:pt x="1129885" y="0"/>
                  </a:lnTo>
                  <a:cubicBezTo>
                    <a:pt x="1140248" y="0"/>
                    <a:pt x="1150188" y="4117"/>
                    <a:pt x="1157516" y="11445"/>
                  </a:cubicBezTo>
                  <a:cubicBezTo>
                    <a:pt x="1164844" y="18774"/>
                    <a:pt x="1168961" y="28713"/>
                    <a:pt x="1168961" y="39077"/>
                  </a:cubicBezTo>
                  <a:lnTo>
                    <a:pt x="1168961" y="769182"/>
                  </a:lnTo>
                  <a:cubicBezTo>
                    <a:pt x="1168961" y="779545"/>
                    <a:pt x="1164844" y="789485"/>
                    <a:pt x="1157516" y="796813"/>
                  </a:cubicBezTo>
                  <a:cubicBezTo>
                    <a:pt x="1150188" y="804141"/>
                    <a:pt x="1140248" y="808258"/>
                    <a:pt x="1129885" y="808258"/>
                  </a:cubicBezTo>
                  <a:lnTo>
                    <a:pt x="39077" y="808258"/>
                  </a:lnTo>
                  <a:cubicBezTo>
                    <a:pt x="28713" y="808258"/>
                    <a:pt x="18774" y="804141"/>
                    <a:pt x="11445" y="796813"/>
                  </a:cubicBezTo>
                  <a:cubicBezTo>
                    <a:pt x="4117" y="789485"/>
                    <a:pt x="0" y="779545"/>
                    <a:pt x="0" y="769182"/>
                  </a:cubicBezTo>
                  <a:lnTo>
                    <a:pt x="0" y="39077"/>
                  </a:lnTo>
                  <a:cubicBezTo>
                    <a:pt x="0" y="28713"/>
                    <a:pt x="4117" y="18774"/>
                    <a:pt x="11445" y="11445"/>
                  </a:cubicBezTo>
                  <a:cubicBezTo>
                    <a:pt x="18774" y="4117"/>
                    <a:pt x="28713" y="0"/>
                    <a:pt x="3907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68961" cy="846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917800" y="6235900"/>
            <a:ext cx="2908178" cy="2040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6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Lỗi (Bug) ban đầu: Đoạn mã sử dụng cls.__name__ làm khóa trong từ điển _instances.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162871" y="5886450"/>
            <a:ext cx="3962410" cy="2739741"/>
            <a:chOff x="0" y="0"/>
            <a:chExt cx="1168961" cy="8082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8961" cy="808258"/>
            </a:xfrm>
            <a:custGeom>
              <a:avLst/>
              <a:gdLst/>
              <a:ahLst/>
              <a:cxnLst/>
              <a:rect r="r" b="b" t="t" l="l"/>
              <a:pathLst>
                <a:path h="808258" w="1168961">
                  <a:moveTo>
                    <a:pt x="39077" y="0"/>
                  </a:moveTo>
                  <a:lnTo>
                    <a:pt x="1129885" y="0"/>
                  </a:lnTo>
                  <a:cubicBezTo>
                    <a:pt x="1140248" y="0"/>
                    <a:pt x="1150188" y="4117"/>
                    <a:pt x="1157516" y="11445"/>
                  </a:cubicBezTo>
                  <a:cubicBezTo>
                    <a:pt x="1164844" y="18774"/>
                    <a:pt x="1168961" y="28713"/>
                    <a:pt x="1168961" y="39077"/>
                  </a:cubicBezTo>
                  <a:lnTo>
                    <a:pt x="1168961" y="769182"/>
                  </a:lnTo>
                  <a:cubicBezTo>
                    <a:pt x="1168961" y="779545"/>
                    <a:pt x="1164844" y="789485"/>
                    <a:pt x="1157516" y="796813"/>
                  </a:cubicBezTo>
                  <a:cubicBezTo>
                    <a:pt x="1150188" y="804141"/>
                    <a:pt x="1140248" y="808258"/>
                    <a:pt x="1129885" y="808258"/>
                  </a:cubicBezTo>
                  <a:lnTo>
                    <a:pt x="39077" y="808258"/>
                  </a:lnTo>
                  <a:cubicBezTo>
                    <a:pt x="28713" y="808258"/>
                    <a:pt x="18774" y="804141"/>
                    <a:pt x="11445" y="796813"/>
                  </a:cubicBezTo>
                  <a:cubicBezTo>
                    <a:pt x="4117" y="789485"/>
                    <a:pt x="0" y="779545"/>
                    <a:pt x="0" y="769182"/>
                  </a:cubicBezTo>
                  <a:lnTo>
                    <a:pt x="0" y="39077"/>
                  </a:lnTo>
                  <a:cubicBezTo>
                    <a:pt x="0" y="28713"/>
                    <a:pt x="4117" y="18774"/>
                    <a:pt x="11445" y="11445"/>
                  </a:cubicBezTo>
                  <a:cubicBezTo>
                    <a:pt x="18774" y="4117"/>
                    <a:pt x="28713" y="0"/>
                    <a:pt x="3907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68961" cy="846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393928" y="6460983"/>
            <a:ext cx="350014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Hệ quả: Nếu có hai lớp khác nhau có cùng tên (trong các module khác nhau), instance sẽ bị nhầm lẫn hoặc ghi đè, vi phạm nguyên tắc Singleton.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934906" y="5886450"/>
            <a:ext cx="3962410" cy="2739741"/>
            <a:chOff x="0" y="0"/>
            <a:chExt cx="1168961" cy="8082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68961" cy="808258"/>
            </a:xfrm>
            <a:custGeom>
              <a:avLst/>
              <a:gdLst/>
              <a:ahLst/>
              <a:cxnLst/>
              <a:rect r="r" b="b" t="t" l="l"/>
              <a:pathLst>
                <a:path h="808258" w="1168961">
                  <a:moveTo>
                    <a:pt x="39077" y="0"/>
                  </a:moveTo>
                  <a:lnTo>
                    <a:pt x="1129885" y="0"/>
                  </a:lnTo>
                  <a:cubicBezTo>
                    <a:pt x="1140248" y="0"/>
                    <a:pt x="1150188" y="4117"/>
                    <a:pt x="1157516" y="11445"/>
                  </a:cubicBezTo>
                  <a:cubicBezTo>
                    <a:pt x="1164844" y="18774"/>
                    <a:pt x="1168961" y="28713"/>
                    <a:pt x="1168961" y="39077"/>
                  </a:cubicBezTo>
                  <a:lnTo>
                    <a:pt x="1168961" y="769182"/>
                  </a:lnTo>
                  <a:cubicBezTo>
                    <a:pt x="1168961" y="779545"/>
                    <a:pt x="1164844" y="789485"/>
                    <a:pt x="1157516" y="796813"/>
                  </a:cubicBezTo>
                  <a:cubicBezTo>
                    <a:pt x="1150188" y="804141"/>
                    <a:pt x="1140248" y="808258"/>
                    <a:pt x="1129885" y="808258"/>
                  </a:cubicBezTo>
                  <a:lnTo>
                    <a:pt x="39077" y="808258"/>
                  </a:lnTo>
                  <a:cubicBezTo>
                    <a:pt x="28713" y="808258"/>
                    <a:pt x="18774" y="804141"/>
                    <a:pt x="11445" y="796813"/>
                  </a:cubicBezTo>
                  <a:cubicBezTo>
                    <a:pt x="4117" y="789485"/>
                    <a:pt x="0" y="779545"/>
                    <a:pt x="0" y="769182"/>
                  </a:cubicBezTo>
                  <a:lnTo>
                    <a:pt x="0" y="39077"/>
                  </a:lnTo>
                  <a:cubicBezTo>
                    <a:pt x="0" y="28713"/>
                    <a:pt x="4117" y="18774"/>
                    <a:pt x="11445" y="11445"/>
                  </a:cubicBezTo>
                  <a:cubicBezTo>
                    <a:pt x="18774" y="4117"/>
                    <a:pt x="28713" y="0"/>
                    <a:pt x="3907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68961" cy="846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163506" y="6340264"/>
            <a:ext cx="3435294" cy="183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4"/>
              </a:lnSpc>
            </a:pPr>
            <a:r>
              <a:rPr lang="en-US" sz="200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Mã nguồn lỗi</a:t>
            </a:r>
          </a:p>
          <a:p>
            <a:pPr algn="ctr">
              <a:lnSpc>
                <a:spcPts val="2404"/>
              </a:lnSpc>
            </a:pPr>
            <a:r>
              <a:rPr lang="en-US" sz="200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if cls not in cls._instances:</a:t>
            </a:r>
          </a:p>
          <a:p>
            <a:pPr algn="ctr">
              <a:lnSpc>
                <a:spcPts val="2404"/>
              </a:lnSpc>
            </a:pPr>
            <a:r>
              <a:rPr lang="en-US" sz="200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   cls._instances[cls.__name__] = super(Singleton, cls).__call__(*args, **kwargs)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0" y="0"/>
            <a:ext cx="3214829" cy="3782152"/>
          </a:xfrm>
          <a:custGeom>
            <a:avLst/>
            <a:gdLst/>
            <a:ahLst/>
            <a:cxnLst/>
            <a:rect r="r" b="b" t="t" l="l"/>
            <a:pathLst>
              <a:path h="3782152" w="3214829">
                <a:moveTo>
                  <a:pt x="0" y="0"/>
                </a:moveTo>
                <a:lnTo>
                  <a:pt x="3214829" y="0"/>
                </a:lnTo>
                <a:lnTo>
                  <a:pt x="3214829" y="3782152"/>
                </a:lnTo>
                <a:lnTo>
                  <a:pt x="0" y="3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true" rot="0">
            <a:off x="15897316" y="5194278"/>
            <a:ext cx="4546302" cy="5348590"/>
          </a:xfrm>
          <a:custGeom>
            <a:avLst/>
            <a:gdLst/>
            <a:ahLst/>
            <a:cxnLst/>
            <a:rect r="r" b="b" t="t" l="l"/>
            <a:pathLst>
              <a:path h="5348590" w="4546302">
                <a:moveTo>
                  <a:pt x="4546302" y="5348590"/>
                </a:moveTo>
                <a:lnTo>
                  <a:pt x="0" y="5348590"/>
                </a:lnTo>
                <a:lnTo>
                  <a:pt x="0" y="0"/>
                </a:lnTo>
                <a:lnTo>
                  <a:pt x="4546302" y="0"/>
                </a:lnTo>
                <a:lnTo>
                  <a:pt x="4546302" y="53485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07415" y="2798763"/>
            <a:ext cx="6476909" cy="167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63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Khắc phục lỗi bằng GitHub Copilot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616999" y="2693988"/>
            <a:ext cx="9671001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9"/>
              </a:lnSpc>
            </a:pPr>
            <a:r>
              <a:rPr lang="en-US" sz="4074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Giới thiệu: Công cụ AI Pair Programming được huấn luyện từ hàng tỷ dòng mã công khai trên GitHub.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52816" y="1508602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03</a:t>
            </a:r>
          </a:p>
        </p:txBody>
      </p:sp>
      <p:sp>
        <p:nvSpPr>
          <p:cNvPr name="AutoShape 5" id="5"/>
          <p:cNvSpPr/>
          <p:nvPr/>
        </p:nvSpPr>
        <p:spPr>
          <a:xfrm>
            <a:off x="2518134" y="2088039"/>
            <a:ext cx="2134682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251315" y="5194278"/>
            <a:ext cx="6487933" cy="3994202"/>
            <a:chOff x="0" y="0"/>
            <a:chExt cx="1914023" cy="11783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4023" cy="1178340"/>
            </a:xfrm>
            <a:custGeom>
              <a:avLst/>
              <a:gdLst/>
              <a:ahLst/>
              <a:cxnLst/>
              <a:rect r="r" b="b" t="t" l="l"/>
              <a:pathLst>
                <a:path h="1178340" w="1914023">
                  <a:moveTo>
                    <a:pt x="23866" y="0"/>
                  </a:moveTo>
                  <a:lnTo>
                    <a:pt x="1890157" y="0"/>
                  </a:lnTo>
                  <a:cubicBezTo>
                    <a:pt x="1896487" y="0"/>
                    <a:pt x="1902557" y="2514"/>
                    <a:pt x="1907033" y="6990"/>
                  </a:cubicBezTo>
                  <a:cubicBezTo>
                    <a:pt x="1911508" y="11466"/>
                    <a:pt x="1914023" y="17536"/>
                    <a:pt x="1914023" y="23866"/>
                  </a:cubicBezTo>
                  <a:lnTo>
                    <a:pt x="1914023" y="1154475"/>
                  </a:lnTo>
                  <a:cubicBezTo>
                    <a:pt x="1914023" y="1160804"/>
                    <a:pt x="1911508" y="1166875"/>
                    <a:pt x="1907033" y="1171350"/>
                  </a:cubicBezTo>
                  <a:cubicBezTo>
                    <a:pt x="1902557" y="1175826"/>
                    <a:pt x="1896487" y="1178340"/>
                    <a:pt x="1890157" y="1178340"/>
                  </a:cubicBezTo>
                  <a:lnTo>
                    <a:pt x="23866" y="1178340"/>
                  </a:lnTo>
                  <a:cubicBezTo>
                    <a:pt x="17536" y="1178340"/>
                    <a:pt x="11466" y="1175826"/>
                    <a:pt x="6990" y="1171350"/>
                  </a:cubicBezTo>
                  <a:cubicBezTo>
                    <a:pt x="2514" y="1166875"/>
                    <a:pt x="0" y="1160804"/>
                    <a:pt x="0" y="1154475"/>
                  </a:cubicBezTo>
                  <a:lnTo>
                    <a:pt x="0" y="23866"/>
                  </a:lnTo>
                  <a:cubicBezTo>
                    <a:pt x="0" y="17536"/>
                    <a:pt x="2514" y="11466"/>
                    <a:pt x="6990" y="6990"/>
                  </a:cubicBezTo>
                  <a:cubicBezTo>
                    <a:pt x="11466" y="2514"/>
                    <a:pt x="17536" y="0"/>
                    <a:pt x="23866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14023" cy="1216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41699" y="5230610"/>
            <a:ext cx="5507166" cy="373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9"/>
              </a:lnSpc>
            </a:pPr>
            <a:r>
              <a:rPr lang="en-US" sz="307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Giải pháp từ AI: Sử dụng chính đối tượng cls (class object) làm khóa thay vì tên lớp dưới dạng chuỗi.</a:t>
            </a:r>
          </a:p>
          <a:p>
            <a:pPr algn="ctr">
              <a:lnSpc>
                <a:spcPts val="3689"/>
              </a:lnSpc>
            </a:pPr>
            <a:r>
              <a:rPr lang="en-US" sz="307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Kiểm chứng: Sử dụng TestCase để đảm bảo khi khởi tạo nhiều lần, đối tượng trả về luôn là cùng một instance duy nhất.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849413" y="5143500"/>
            <a:ext cx="7511245" cy="4044980"/>
            <a:chOff x="0" y="0"/>
            <a:chExt cx="2215913" cy="1193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5913" cy="1193320"/>
            </a:xfrm>
            <a:custGeom>
              <a:avLst/>
              <a:gdLst/>
              <a:ahLst/>
              <a:cxnLst/>
              <a:rect r="r" b="b" t="t" l="l"/>
              <a:pathLst>
                <a:path h="1193320" w="2215913">
                  <a:moveTo>
                    <a:pt x="20614" y="0"/>
                  </a:moveTo>
                  <a:lnTo>
                    <a:pt x="2195299" y="0"/>
                  </a:lnTo>
                  <a:cubicBezTo>
                    <a:pt x="2206684" y="0"/>
                    <a:pt x="2215913" y="9229"/>
                    <a:pt x="2215913" y="20614"/>
                  </a:cubicBezTo>
                  <a:lnTo>
                    <a:pt x="2215913" y="1172706"/>
                  </a:lnTo>
                  <a:cubicBezTo>
                    <a:pt x="2215913" y="1178174"/>
                    <a:pt x="2213741" y="1183417"/>
                    <a:pt x="2209875" y="1187283"/>
                  </a:cubicBezTo>
                  <a:cubicBezTo>
                    <a:pt x="2206009" y="1191149"/>
                    <a:pt x="2200766" y="1193320"/>
                    <a:pt x="2195299" y="1193320"/>
                  </a:cubicBezTo>
                  <a:lnTo>
                    <a:pt x="20614" y="1193320"/>
                  </a:lnTo>
                  <a:cubicBezTo>
                    <a:pt x="9229" y="1193320"/>
                    <a:pt x="0" y="1184091"/>
                    <a:pt x="0" y="1172706"/>
                  </a:cubicBezTo>
                  <a:lnTo>
                    <a:pt x="0" y="20614"/>
                  </a:lnTo>
                  <a:cubicBezTo>
                    <a:pt x="0" y="15147"/>
                    <a:pt x="2172" y="9904"/>
                    <a:pt x="6038" y="6038"/>
                  </a:cubicBezTo>
                  <a:cubicBezTo>
                    <a:pt x="9904" y="2172"/>
                    <a:pt x="15147" y="0"/>
                    <a:pt x="20614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15913" cy="1231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51161" y="5357534"/>
            <a:ext cx="6746155" cy="360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1"/>
              </a:lnSpc>
            </a:pPr>
            <a:r>
              <a:rPr lang="en-US" sz="393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Mã nguồn sau khi sửa:</a:t>
            </a:r>
          </a:p>
          <a:p>
            <a:pPr algn="ctr">
              <a:lnSpc>
                <a:spcPts val="4721"/>
              </a:lnSpc>
            </a:pPr>
            <a:r>
              <a:rPr lang="en-US" sz="393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if cls not in cls._instances:</a:t>
            </a:r>
          </a:p>
          <a:p>
            <a:pPr algn="ctr">
              <a:lnSpc>
                <a:spcPts val="4721"/>
              </a:lnSpc>
            </a:pPr>
            <a:r>
              <a:rPr lang="en-US" sz="393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   cls._instances[cls] = super(Singleton, cls).__call__(*args, **kwargs)</a:t>
            </a:r>
          </a:p>
          <a:p>
            <a:pPr algn="ctr">
              <a:lnSpc>
                <a:spcPts val="4721"/>
              </a:lnSpc>
            </a:pPr>
            <a:r>
              <a:rPr lang="en-US" sz="393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return cls._instances[cls]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0" y="0"/>
            <a:ext cx="3214829" cy="3782152"/>
          </a:xfrm>
          <a:custGeom>
            <a:avLst/>
            <a:gdLst/>
            <a:ahLst/>
            <a:cxnLst/>
            <a:rect r="r" b="b" t="t" l="l"/>
            <a:pathLst>
              <a:path h="3782152" w="3214829">
                <a:moveTo>
                  <a:pt x="0" y="0"/>
                </a:moveTo>
                <a:lnTo>
                  <a:pt x="3214829" y="0"/>
                </a:lnTo>
                <a:lnTo>
                  <a:pt x="3214829" y="3782152"/>
                </a:lnTo>
                <a:lnTo>
                  <a:pt x="0" y="3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0">
            <a:off x="15897316" y="5194278"/>
            <a:ext cx="4546302" cy="5348590"/>
          </a:xfrm>
          <a:custGeom>
            <a:avLst/>
            <a:gdLst/>
            <a:ahLst/>
            <a:cxnLst/>
            <a:rect r="r" b="b" t="t" l="l"/>
            <a:pathLst>
              <a:path h="5348590" w="4546302">
                <a:moveTo>
                  <a:pt x="4546302" y="5348590"/>
                </a:moveTo>
                <a:lnTo>
                  <a:pt x="0" y="5348590"/>
                </a:lnTo>
                <a:lnTo>
                  <a:pt x="0" y="0"/>
                </a:lnTo>
                <a:lnTo>
                  <a:pt x="4546302" y="0"/>
                </a:lnTo>
                <a:lnTo>
                  <a:pt x="4546302" y="53485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788561">
            <a:off x="6835797" y="-1820950"/>
            <a:ext cx="12687883" cy="12687883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95377" y="-95377"/>
              <a:ext cx="6540754" cy="6540754"/>
            </a:xfrm>
            <a:custGeom>
              <a:avLst/>
              <a:gdLst/>
              <a:ahLst/>
              <a:cxnLst/>
              <a:rect r="r" b="b" t="t" l="l"/>
              <a:pathLst>
                <a:path h="6540754" w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941332" y="1028700"/>
            <a:ext cx="5346668" cy="9258300"/>
          </a:xfrm>
          <a:custGeom>
            <a:avLst/>
            <a:gdLst/>
            <a:ahLst/>
            <a:cxnLst/>
            <a:rect r="r" b="b" t="t" l="l"/>
            <a:pathLst>
              <a:path h="9258300" w="5346668">
                <a:moveTo>
                  <a:pt x="0" y="0"/>
                </a:moveTo>
                <a:lnTo>
                  <a:pt x="5346668" y="0"/>
                </a:lnTo>
                <a:lnTo>
                  <a:pt x="534666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71367" y="2168650"/>
            <a:ext cx="7893463" cy="260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2"/>
              </a:lnSpc>
            </a:pPr>
            <a:r>
              <a:rPr lang="en-US" sz="6702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 Kỹ thuật Prompt Engineering (Nghệ thuật đặt câu hỏi)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0160" y="5133975"/>
            <a:ext cx="10268550" cy="430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3033" indent="-281516" lvl="1">
              <a:lnSpc>
                <a:spcPts val="3129"/>
              </a:lnSpc>
              <a:buFont typeface="Arial"/>
              <a:buChar char="•"/>
            </a:pPr>
            <a:r>
              <a:rPr lang="en-US" sz="2607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Tầm quan trọng: Chất lượng câu trả lời của AI phụ thuộc 80% vào cách đặt câu hỏi.</a:t>
            </a:r>
          </a:p>
          <a:p>
            <a:pPr algn="l">
              <a:lnSpc>
                <a:spcPts val="3129"/>
              </a:lnSpc>
            </a:pPr>
            <a:r>
              <a:rPr lang="en-US" sz="2607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    </a:t>
            </a:r>
            <a:r>
              <a:rPr lang="en-US" sz="2607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Các kỹ thuật nâng cao:</a:t>
            </a:r>
          </a:p>
          <a:p>
            <a:pPr algn="l" marL="563033" indent="-281516" lvl="1">
              <a:lnSpc>
                <a:spcPts val="3129"/>
              </a:lnSpc>
              <a:buAutoNum type="arabicPeriod" startAt="1"/>
            </a:pPr>
            <a:r>
              <a:rPr lang="en-US" sz="2607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Role Prompting: Gán vai trò cụ thể cho AI (ví dụ: "Bạn là một chuyên gia bảo mật").</a:t>
            </a:r>
          </a:p>
          <a:p>
            <a:pPr algn="l" marL="563033" indent="-281516" lvl="1">
              <a:lnSpc>
                <a:spcPts val="3129"/>
              </a:lnSpc>
              <a:buAutoNum type="arabicPeriod" startAt="1"/>
            </a:pPr>
            <a:r>
              <a:rPr lang="en-US" sz="2607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Context Providing: Cung cấp thông tin nền về thư viện, môi trường đang dùng.</a:t>
            </a:r>
          </a:p>
          <a:p>
            <a:pPr algn="l" marL="563033" indent="-281516" lvl="1">
              <a:lnSpc>
                <a:spcPts val="3129"/>
              </a:lnSpc>
              <a:buAutoNum type="arabicPeriod" startAt="1"/>
            </a:pPr>
            <a:r>
              <a:rPr lang="en-US" sz="2607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Step-by-step: Yêu cầu AI suy nghĩ và giải thích từng bước.</a:t>
            </a:r>
          </a:p>
          <a:p>
            <a:pPr algn="l" marL="563033" indent="-281516" lvl="1">
              <a:lnSpc>
                <a:spcPts val="3129"/>
              </a:lnSpc>
              <a:buAutoNum type="arabicPeriod" startAt="1"/>
            </a:pPr>
            <a:r>
              <a:rPr lang="en-US" sz="2607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Few-shot prompting: Cung cấp các ví dụ mẫu để AI bắt chước định dạng.</a:t>
            </a:r>
          </a:p>
          <a:p>
            <a:pPr algn="l" marL="0" indent="0" lvl="0">
              <a:lnSpc>
                <a:spcPts val="312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567890" y="1474913"/>
            <a:ext cx="1349968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04</a:t>
            </a:r>
          </a:p>
        </p:txBody>
      </p:sp>
      <p:sp>
        <p:nvSpPr>
          <p:cNvPr name="AutoShape 8" id="8"/>
          <p:cNvSpPr/>
          <p:nvPr/>
        </p:nvSpPr>
        <p:spPr>
          <a:xfrm>
            <a:off x="1871367" y="2035300"/>
            <a:ext cx="6696523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true" flipV="true" rot="0">
            <a:off x="-3635828" y="-156278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788561">
            <a:off x="7458472" y="-1161944"/>
            <a:ext cx="11905283" cy="11905283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95377" y="-95377"/>
              <a:ext cx="6540754" cy="6540754"/>
            </a:xfrm>
            <a:custGeom>
              <a:avLst/>
              <a:gdLst/>
              <a:ahLst/>
              <a:cxnLst/>
              <a:rect r="r" b="b" t="t" l="l"/>
              <a:pathLst>
                <a:path h="6540754" w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2"/>
              <a:stretch>
                <a:fillRect l="-9446" t="0" r="-4036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028071" y="2910499"/>
            <a:ext cx="4259929" cy="7376501"/>
          </a:xfrm>
          <a:custGeom>
            <a:avLst/>
            <a:gdLst/>
            <a:ahLst/>
            <a:cxnLst/>
            <a:rect r="r" b="b" t="t" l="l"/>
            <a:pathLst>
              <a:path h="7376501" w="4259929">
                <a:moveTo>
                  <a:pt x="0" y="0"/>
                </a:moveTo>
                <a:lnTo>
                  <a:pt x="4259929" y="0"/>
                </a:lnTo>
                <a:lnTo>
                  <a:pt x="4259929" y="7376501"/>
                </a:lnTo>
                <a:lnTo>
                  <a:pt x="0" y="73765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43440" y="1238250"/>
            <a:ext cx="10290590" cy="314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 Best Practices khi lập trình với AI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0">
            <a:off x="-3825202" y="-670628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28083" y="4100947"/>
            <a:ext cx="9264978" cy="5754666"/>
            <a:chOff x="0" y="0"/>
            <a:chExt cx="2733286" cy="1697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33286" cy="1697700"/>
            </a:xfrm>
            <a:custGeom>
              <a:avLst/>
              <a:gdLst/>
              <a:ahLst/>
              <a:cxnLst/>
              <a:rect r="r" b="b" t="t" l="l"/>
              <a:pathLst>
                <a:path h="1697700" w="2733286">
                  <a:moveTo>
                    <a:pt x="16712" y="0"/>
                  </a:moveTo>
                  <a:lnTo>
                    <a:pt x="2716574" y="0"/>
                  </a:lnTo>
                  <a:cubicBezTo>
                    <a:pt x="2725804" y="0"/>
                    <a:pt x="2733286" y="7482"/>
                    <a:pt x="2733286" y="16712"/>
                  </a:cubicBezTo>
                  <a:lnTo>
                    <a:pt x="2733286" y="1680988"/>
                  </a:lnTo>
                  <a:cubicBezTo>
                    <a:pt x="2733286" y="1690217"/>
                    <a:pt x="2725804" y="1697700"/>
                    <a:pt x="2716574" y="1697700"/>
                  </a:cubicBezTo>
                  <a:lnTo>
                    <a:pt x="16712" y="1697700"/>
                  </a:lnTo>
                  <a:cubicBezTo>
                    <a:pt x="7482" y="1697700"/>
                    <a:pt x="0" y="1690217"/>
                    <a:pt x="0" y="1680988"/>
                  </a:cubicBezTo>
                  <a:lnTo>
                    <a:pt x="0" y="16712"/>
                  </a:lnTo>
                  <a:cubicBezTo>
                    <a:pt x="0" y="7482"/>
                    <a:pt x="7482" y="0"/>
                    <a:pt x="16712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33286" cy="1735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3359"/>
                </a:lnSpc>
                <a:buAutoNum type="arabicPeriod" startAt="1"/>
              </a:pPr>
              <a:r>
                <a:rPr lang="en-US" sz="24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Nguyên tắc 1: Review Code. AI có thể gặp hiện tượng "ảo giác" (tạo ra code trông có vẻ đúng nhưng thực tế sai hoặc không an toàn).</a:t>
              </a:r>
            </a:p>
            <a:p>
              <a:pPr algn="l" marL="518160" indent="-259080" lvl="1">
                <a:lnSpc>
                  <a:spcPts val="3359"/>
                </a:lnSpc>
                <a:buAutoNum type="arabicPeriod" startAt="1"/>
              </a:pPr>
              <a:r>
                <a:rPr lang="en-US" sz="24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Nguyên tắc 2: Tối ưu chi phí. Quản lý Token và tần suất gọi API để tránh lãng phí.</a:t>
              </a:r>
            </a:p>
            <a:p>
              <a:pPr algn="l" marL="518160" indent="-259080" lvl="1">
                <a:lnSpc>
                  <a:spcPts val="3359"/>
                </a:lnSpc>
                <a:buAutoNum type="arabicPeriod" startAt="1"/>
              </a:pPr>
              <a:r>
                <a:rPr lang="en-US" sz="24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Nguyên tắc 3: Tư duy kiến trúc. Sử dụng AI để viết các hàm nhỏ, con người giữ vai trò thiết kế cấu trúc lớn và logic kinh doanh.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788561">
            <a:off x="7234006" y="-2527592"/>
            <a:ext cx="12687883" cy="12687883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95377" y="-95377"/>
              <a:ext cx="6540754" cy="6540754"/>
            </a:xfrm>
            <a:custGeom>
              <a:avLst/>
              <a:gdLst/>
              <a:ahLst/>
              <a:cxnLst/>
              <a:rect r="r" b="b" t="t" l="l"/>
              <a:pathLst>
                <a:path h="6540754" w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941332" y="1028700"/>
            <a:ext cx="5346668" cy="9258300"/>
          </a:xfrm>
          <a:custGeom>
            <a:avLst/>
            <a:gdLst/>
            <a:ahLst/>
            <a:cxnLst/>
            <a:rect r="r" b="b" t="t" l="l"/>
            <a:pathLst>
              <a:path h="9258300" w="5346668">
                <a:moveTo>
                  <a:pt x="0" y="0"/>
                </a:moveTo>
                <a:lnTo>
                  <a:pt x="5346668" y="0"/>
                </a:lnTo>
                <a:lnTo>
                  <a:pt x="534666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58962" y="1209675"/>
            <a:ext cx="10194912" cy="260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Ưu điểm và Hạn chế của GenAI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6529" y="4286250"/>
            <a:ext cx="10007536" cy="497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4566" indent="-397283" lvl="1">
              <a:lnSpc>
                <a:spcPts val="4416"/>
              </a:lnSpc>
              <a:buFont typeface="Arial"/>
              <a:buChar char="•"/>
            </a:pPr>
            <a:r>
              <a:rPr lang="en-US" sz="3680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Ưu điểm: Tăng tốc độ coding lên 2-3 lần; Giảm áp lực ghi nhớ cú pháp; Hỗ trợ debug nhanh.</a:t>
            </a:r>
          </a:p>
          <a:p>
            <a:pPr algn="just" marL="794566" indent="-397283" lvl="1">
              <a:lnSpc>
                <a:spcPts val="4416"/>
              </a:lnSpc>
              <a:buFont typeface="Arial"/>
              <a:buChar char="•"/>
            </a:pPr>
            <a:r>
              <a:rPr lang="en-US" sz="3680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Hạn chế: Nguy cơ vi phạm bản quyền mã nguồn; Phụ thuộc quá mức làm giảm tư duy sáng tạo; Không thể thay thế hoàn toàn khả năng giải quyết các vấn đề logic phức tạp của con người.</a:t>
            </a:r>
          </a:p>
          <a:p>
            <a:pPr algn="just" marL="0" indent="0" lvl="0">
              <a:lnSpc>
                <a:spcPts val="4416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-3635828" y="-156278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563756" y="0"/>
            <a:ext cx="5724244" cy="6734405"/>
          </a:xfrm>
          <a:custGeom>
            <a:avLst/>
            <a:gdLst/>
            <a:ahLst/>
            <a:cxnLst/>
            <a:rect r="r" b="b" t="t" l="l"/>
            <a:pathLst>
              <a:path h="6734405" w="5724244">
                <a:moveTo>
                  <a:pt x="5724244" y="0"/>
                </a:moveTo>
                <a:lnTo>
                  <a:pt x="0" y="0"/>
                </a:lnTo>
                <a:lnTo>
                  <a:pt x="0" y="6734405"/>
                </a:lnTo>
                <a:lnTo>
                  <a:pt x="5724244" y="6734405"/>
                </a:lnTo>
                <a:lnTo>
                  <a:pt x="57242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0285" y="2525849"/>
            <a:ext cx="13777217" cy="109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8"/>
              </a:lnSpc>
              <a:spcBef>
                <a:spcPct val="0"/>
              </a:spcBef>
            </a:pPr>
            <a:r>
              <a:rPr lang="en-US" sz="8188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Kết luận và Hướng phát triển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-1650481" y="6205608"/>
            <a:ext cx="5724244" cy="6734405"/>
          </a:xfrm>
          <a:custGeom>
            <a:avLst/>
            <a:gdLst/>
            <a:ahLst/>
            <a:cxnLst/>
            <a:rect r="r" b="b" t="t" l="l"/>
            <a:pathLst>
              <a:path h="6734405" w="5724244">
                <a:moveTo>
                  <a:pt x="0" y="6734405"/>
                </a:moveTo>
                <a:lnTo>
                  <a:pt x="5724245" y="6734405"/>
                </a:lnTo>
                <a:lnTo>
                  <a:pt x="5724245" y="0"/>
                </a:lnTo>
                <a:lnTo>
                  <a:pt x="0" y="0"/>
                </a:lnTo>
                <a:lnTo>
                  <a:pt x="0" y="67344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907281" y="8298325"/>
            <a:ext cx="6074168" cy="959975"/>
            <a:chOff x="0" y="0"/>
            <a:chExt cx="1599781" cy="2528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9781" cy="252833"/>
            </a:xfrm>
            <a:custGeom>
              <a:avLst/>
              <a:gdLst/>
              <a:ahLst/>
              <a:cxnLst/>
              <a:rect r="r" b="b" t="t" l="l"/>
              <a:pathLst>
                <a:path h="252833" w="1599781">
                  <a:moveTo>
                    <a:pt x="25491" y="0"/>
                  </a:moveTo>
                  <a:lnTo>
                    <a:pt x="1574290" y="0"/>
                  </a:lnTo>
                  <a:cubicBezTo>
                    <a:pt x="1588368" y="0"/>
                    <a:pt x="1599781" y="11413"/>
                    <a:pt x="1599781" y="25491"/>
                  </a:cubicBezTo>
                  <a:lnTo>
                    <a:pt x="1599781" y="227342"/>
                  </a:lnTo>
                  <a:cubicBezTo>
                    <a:pt x="1599781" y="241420"/>
                    <a:pt x="1588368" y="252833"/>
                    <a:pt x="1574290" y="252833"/>
                  </a:cubicBezTo>
                  <a:lnTo>
                    <a:pt x="25491" y="252833"/>
                  </a:lnTo>
                  <a:cubicBezTo>
                    <a:pt x="18731" y="252833"/>
                    <a:pt x="12247" y="250147"/>
                    <a:pt x="7466" y="245367"/>
                  </a:cubicBezTo>
                  <a:cubicBezTo>
                    <a:pt x="2686" y="240586"/>
                    <a:pt x="0" y="234102"/>
                    <a:pt x="0" y="227342"/>
                  </a:cubicBezTo>
                  <a:lnTo>
                    <a:pt x="0" y="25491"/>
                  </a:lnTo>
                  <a:cubicBezTo>
                    <a:pt x="0" y="11413"/>
                    <a:pt x="11413" y="0"/>
                    <a:pt x="25491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9781" cy="290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5462191" y="8768788"/>
            <a:ext cx="1866702" cy="0"/>
          </a:xfrm>
          <a:prstGeom prst="line">
            <a:avLst/>
          </a:prstGeom>
          <a:ln cap="flat" w="19050">
            <a:solidFill>
              <a:srgbClr val="E8E8E8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1028700"/>
            <a:ext cx="731870" cy="908643"/>
          </a:xfrm>
          <a:custGeom>
            <a:avLst/>
            <a:gdLst/>
            <a:ahLst/>
            <a:cxnLst/>
            <a:rect r="r" b="b" t="t" l="l"/>
            <a:pathLst>
              <a:path h="908643" w="731870">
                <a:moveTo>
                  <a:pt x="0" y="0"/>
                </a:moveTo>
                <a:lnTo>
                  <a:pt x="731870" y="0"/>
                </a:lnTo>
                <a:lnTo>
                  <a:pt x="731870" y="908643"/>
                </a:lnTo>
                <a:lnTo>
                  <a:pt x="0" y="90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93656" y="8540188"/>
            <a:ext cx="32685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01 January 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03289" y="1019175"/>
            <a:ext cx="326853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FAUGET COMPANY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123849" y="4584716"/>
            <a:ext cx="6328303" cy="5814128"/>
          </a:xfrm>
          <a:custGeom>
            <a:avLst/>
            <a:gdLst/>
            <a:ahLst/>
            <a:cxnLst/>
            <a:rect r="r" b="b" t="t" l="l"/>
            <a:pathLst>
              <a:path h="5814128" w="6328303">
                <a:moveTo>
                  <a:pt x="0" y="0"/>
                </a:moveTo>
                <a:lnTo>
                  <a:pt x="6328302" y="0"/>
                </a:lnTo>
                <a:lnTo>
                  <a:pt x="6328302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68568" y="3867301"/>
            <a:ext cx="12468620" cy="415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236" indent="-367118" lvl="1">
              <a:lnSpc>
                <a:spcPts val="4761"/>
              </a:lnSpc>
              <a:spcBef>
                <a:spcPct val="0"/>
              </a:spcBef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Kết luận: Đồ án đã thực hiện thành công v</a:t>
            </a:r>
            <a:r>
              <a:rPr lang="en-US" sz="3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iệc tích hợp GenAI (OpenAI &amp; Copilot) vào quy trình giải quyết bài toán cụ thể.</a:t>
            </a:r>
          </a:p>
          <a:p>
            <a:pPr algn="ctr" marL="734236" indent="-367118" lvl="1">
              <a:lnSpc>
                <a:spcPts val="4761"/>
              </a:lnSpc>
              <a:spcBef>
                <a:spcPct val="0"/>
              </a:spcBef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Tầm nhìn: Lập trình viên tương lai cần trang bị kỹ năng "giao tiếp với AI" bên cạnh kiến thức ngôn ngữ lập trình truyền thống.</a:t>
            </a:r>
          </a:p>
          <a:p>
            <a:pPr algn="ctr">
              <a:lnSpc>
                <a:spcPts val="476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10100" y="0"/>
            <a:ext cx="13677900" cy="9785848"/>
            <a:chOff x="0" y="0"/>
            <a:chExt cx="3602410" cy="25773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02410" cy="2577343"/>
            </a:xfrm>
            <a:custGeom>
              <a:avLst/>
              <a:gdLst/>
              <a:ahLst/>
              <a:cxnLst/>
              <a:rect r="r" b="b" t="t" l="l"/>
              <a:pathLst>
                <a:path h="2577343" w="3602410">
                  <a:moveTo>
                    <a:pt x="0" y="0"/>
                  </a:moveTo>
                  <a:lnTo>
                    <a:pt x="3602410" y="0"/>
                  </a:lnTo>
                  <a:lnTo>
                    <a:pt x="3602410" y="2577343"/>
                  </a:lnTo>
                  <a:lnTo>
                    <a:pt x="0" y="2577343"/>
                  </a:lnTo>
                  <a:close/>
                </a:path>
              </a:pathLst>
            </a:custGeom>
            <a:solidFill>
              <a:srgbClr val="0230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3602410" cy="2672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-5400000">
            <a:off x="-5968007" y="3945931"/>
            <a:ext cx="10287000" cy="2395139"/>
          </a:xfrm>
          <a:custGeom>
            <a:avLst/>
            <a:gdLst/>
            <a:ahLst/>
            <a:cxnLst/>
            <a:rect r="r" b="b" t="t" l="l"/>
            <a:pathLst>
              <a:path h="2395139" w="10287000">
                <a:moveTo>
                  <a:pt x="10287000" y="2395138"/>
                </a:moveTo>
                <a:lnTo>
                  <a:pt x="0" y="2395138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239513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26" t="-57958" r="0" b="-95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318691" y="1143625"/>
            <a:ext cx="2654859" cy="467426"/>
            <a:chOff x="0" y="0"/>
            <a:chExt cx="3539812" cy="62323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138086" y="46528"/>
              <a:ext cx="2401726" cy="576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66"/>
                </a:lnSpc>
              </a:pPr>
              <a:r>
                <a:rPr lang="en-US" sz="2429" b="true">
                  <a:solidFill>
                    <a:srgbClr val="FFFFF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Salford &amp; Co.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1193" cy="583163"/>
            </a:xfrm>
            <a:custGeom>
              <a:avLst/>
              <a:gdLst/>
              <a:ahLst/>
              <a:cxnLst/>
              <a:rect r="r" b="b" t="t" l="l"/>
              <a:pathLst>
                <a:path h="583163" w="911193">
                  <a:moveTo>
                    <a:pt x="0" y="0"/>
                  </a:moveTo>
                  <a:lnTo>
                    <a:pt x="911193" y="0"/>
                  </a:lnTo>
                  <a:lnTo>
                    <a:pt x="911193" y="583163"/>
                  </a:lnTo>
                  <a:lnTo>
                    <a:pt x="0" y="583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8116663" y="6755358"/>
            <a:ext cx="951137" cy="444437"/>
          </a:xfrm>
          <a:custGeom>
            <a:avLst/>
            <a:gdLst/>
            <a:ahLst/>
            <a:cxnLst/>
            <a:rect r="r" b="b" t="t" l="l"/>
            <a:pathLst>
              <a:path h="444437" w="951137">
                <a:moveTo>
                  <a:pt x="0" y="0"/>
                </a:moveTo>
                <a:lnTo>
                  <a:pt x="951137" y="0"/>
                </a:lnTo>
                <a:lnTo>
                  <a:pt x="951137" y="444436"/>
                </a:lnTo>
                <a:lnTo>
                  <a:pt x="0" y="4444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78900" r="-11298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72241" y="0"/>
            <a:ext cx="6376712" cy="8978527"/>
            <a:chOff x="0" y="0"/>
            <a:chExt cx="1484175" cy="2089745"/>
          </a:xfrm>
        </p:grpSpPr>
        <p:sp>
          <p:nvSpPr>
            <p:cNvPr name="Freeform 12" id="12"/>
            <p:cNvSpPr/>
            <p:nvPr/>
          </p:nvSpPr>
          <p:spPr>
            <a:xfrm flipH="true" flipV="false" rot="0">
              <a:off x="0" y="0"/>
              <a:ext cx="1484175" cy="2089745"/>
            </a:xfrm>
            <a:custGeom>
              <a:avLst/>
              <a:gdLst/>
              <a:ahLst/>
              <a:cxnLst/>
              <a:rect r="r" b="b" t="t" l="l"/>
              <a:pathLst>
                <a:path h="2089745" w="1484175">
                  <a:moveTo>
                    <a:pt x="1484175" y="0"/>
                  </a:moveTo>
                  <a:lnTo>
                    <a:pt x="0" y="0"/>
                  </a:lnTo>
                  <a:lnTo>
                    <a:pt x="0" y="2089745"/>
                  </a:lnTo>
                  <a:lnTo>
                    <a:pt x="1484175" y="2089745"/>
                  </a:lnTo>
                  <a:close/>
                </a:path>
              </a:pathLst>
            </a:custGeom>
            <a:blipFill>
              <a:blip r:embed="rId9"/>
              <a:stretch>
                <a:fillRect l="-55667" t="0" r="-55667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123734" y="7643616"/>
            <a:ext cx="3554166" cy="764977"/>
            <a:chOff x="0" y="0"/>
            <a:chExt cx="4738888" cy="1019969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898243" y="-47625"/>
              <a:ext cx="3840645" cy="470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981"/>
                </a:lnSpc>
              </a:pPr>
              <a:r>
                <a:rPr lang="en-US" sz="2129">
                  <a:solidFill>
                    <a:srgbClr val="5C8BC3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Presented To: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443490"/>
              <a:ext cx="4738888" cy="576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772"/>
                </a:lnSpc>
              </a:pPr>
              <a:r>
                <a:rPr lang="en-US" sz="2433" b="true">
                  <a:solidFill>
                    <a:srgbClr val="FFFFF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Phan Gia Kiiet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671550" y="7643616"/>
            <a:ext cx="3302000" cy="766501"/>
            <a:chOff x="0" y="0"/>
            <a:chExt cx="4402667" cy="1022001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562021" y="-66675"/>
              <a:ext cx="3840645" cy="491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94"/>
                </a:lnSpc>
              </a:pPr>
              <a:r>
                <a:rPr lang="en-US" sz="2129">
                  <a:solidFill>
                    <a:srgbClr val="5C8BC3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Presented By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445522"/>
              <a:ext cx="4402667" cy="576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772"/>
                </a:lnSpc>
              </a:pPr>
              <a:r>
                <a:rPr lang="en-US" sz="2433" b="true">
                  <a:solidFill>
                    <a:srgbClr val="FFFFF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Phan Gia Kiet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549003" y="2533650"/>
            <a:ext cx="9847686" cy="260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200"/>
              </a:lnSpc>
            </a:pPr>
            <a:r>
              <a:rPr lang="en-US" sz="85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Cảm ơn thầy và các bạn đã lắng nghe.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DAHDvJU7Osw</dc:identifier>
  <dcterms:modified xsi:type="dcterms:W3CDTF">2011-08-01T06:04:30Z</dcterms:modified>
  <cp:revision>1</cp:revision>
  <dc:title>Blue Minimalist Modern Company Profile Presentation</dc:title>
</cp:coreProperties>
</file>